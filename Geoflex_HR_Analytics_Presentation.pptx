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72" r:id="rId2"/>
    <p:sldId id="273" r:id="rId3"/>
    <p:sldId id="258" r:id="rId4"/>
    <p:sldId id="261" r:id="rId5"/>
    <p:sldId id="262" r:id="rId6"/>
    <p:sldId id="269" r:id="rId7"/>
    <p:sldId id="264" r:id="rId8"/>
    <p:sldId id="268"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535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56152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7E9F6-67E8-675D-293B-407D2DA3D1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EB846-D939-E695-0534-603B5CBF9C9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942ECD5-B052-634F-BDCA-9A39A5B583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5236BE3-3E5F-4131-C325-C75B5BBBFDE3}"/>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6802990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www.linkedin.com/in/joecliff-wilson/"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0DF5DDAE-A316-EBF3-0C00-19679BE35848}"/>
              </a:ext>
            </a:extLst>
          </p:cNvPr>
          <p:cNvSpPr/>
          <p:nvPr/>
        </p:nvSpPr>
        <p:spPr>
          <a:xfrm>
            <a:off x="0" y="0"/>
            <a:ext cx="12192000" cy="6858000"/>
          </a:xfrm>
          <a:prstGeom prst="rect">
            <a:avLst/>
          </a:prstGeom>
          <a:gradFill flip="none" rotWithShape="1">
            <a:gsLst>
              <a:gs pos="0">
                <a:srgbClr val="002060"/>
              </a:gs>
              <a:gs pos="83000">
                <a:srgbClr val="002060">
                  <a:alpha val="20000"/>
                </a:srgbClr>
              </a:gs>
              <a:gs pos="73000">
                <a:srgbClr val="002060">
                  <a:alpha val="80000"/>
                </a:srgb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0556E3E-F266-D8C4-35A6-F0BD5C11B17E}"/>
              </a:ext>
            </a:extLst>
          </p:cNvPr>
          <p:cNvSpPr/>
          <p:nvPr/>
        </p:nvSpPr>
        <p:spPr>
          <a:xfrm>
            <a:off x="4898572" y="0"/>
            <a:ext cx="7293427" cy="6858000"/>
          </a:xfrm>
          <a:custGeom>
            <a:avLst/>
            <a:gdLst>
              <a:gd name="csX0" fmla="*/ 3904095 w 7293427"/>
              <a:gd name="csY0" fmla="*/ 2481943 h 6858000"/>
              <a:gd name="csX1" fmla="*/ 6669313 w 7293427"/>
              <a:gd name="csY1" fmla="*/ 6858000 h 6858000"/>
              <a:gd name="csX2" fmla="*/ 1197427 w 7293427"/>
              <a:gd name="csY2" fmla="*/ 6858000 h 6858000"/>
              <a:gd name="csX3" fmla="*/ 5522216 w 7293427"/>
              <a:gd name="csY3" fmla="*/ 0 h 6858000"/>
              <a:gd name="csX4" fmla="*/ 7293427 w 7293427"/>
              <a:gd name="csY4" fmla="*/ 0 h 6858000"/>
              <a:gd name="csX5" fmla="*/ 7293427 w 7293427"/>
              <a:gd name="csY5" fmla="*/ 6858000 h 6858000"/>
              <a:gd name="csX6" fmla="*/ 6975977 w 7293427"/>
              <a:gd name="csY6" fmla="*/ 6858000 h 6858000"/>
              <a:gd name="csX7" fmla="*/ 3969655 w 7293427"/>
              <a:gd name="csY7" fmla="*/ 2368614 h 6858000"/>
              <a:gd name="csX8" fmla="*/ 0 w 7293427"/>
              <a:gd name="csY8" fmla="*/ 0 h 6858000"/>
              <a:gd name="csX9" fmla="*/ 5254171 w 7293427"/>
              <a:gd name="csY9" fmla="*/ 0 h 6858000"/>
              <a:gd name="csX10" fmla="*/ 2627085 w 7293427"/>
              <a:gd name="csY10" fmla="*/ 4216401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7293427" h="6858000">
                <a:moveTo>
                  <a:pt x="3904095" y="2481943"/>
                </a:moveTo>
                <a:lnTo>
                  <a:pt x="6669313" y="6858000"/>
                </a:lnTo>
                <a:lnTo>
                  <a:pt x="1197427" y="6858000"/>
                </a:lnTo>
                <a:close/>
                <a:moveTo>
                  <a:pt x="5522216" y="0"/>
                </a:moveTo>
                <a:lnTo>
                  <a:pt x="7293427" y="0"/>
                </a:lnTo>
                <a:lnTo>
                  <a:pt x="7293427" y="6858000"/>
                </a:lnTo>
                <a:lnTo>
                  <a:pt x="6975977" y="6858000"/>
                </a:lnTo>
                <a:lnTo>
                  <a:pt x="3969655" y="2368614"/>
                </a:lnTo>
                <a:close/>
                <a:moveTo>
                  <a:pt x="0" y="0"/>
                </a:moveTo>
                <a:lnTo>
                  <a:pt x="5254171" y="0"/>
                </a:lnTo>
                <a:lnTo>
                  <a:pt x="2627085" y="4216401"/>
                </a:lnTo>
                <a:close/>
              </a:path>
            </a:pathLst>
          </a:cu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Text 1">
            <a:extLst>
              <a:ext uri="{FF2B5EF4-FFF2-40B4-BE49-F238E27FC236}">
                <a16:creationId xmlns:a16="http://schemas.microsoft.com/office/drawing/2014/main" id="{5F768C87-22FA-2F0E-32A2-ACF0BC204F59}"/>
              </a:ext>
            </a:extLst>
          </p:cNvPr>
          <p:cNvSpPr txBox="1"/>
          <p:nvPr/>
        </p:nvSpPr>
        <p:spPr>
          <a:xfrm>
            <a:off x="224973" y="724262"/>
            <a:ext cx="6695440" cy="11887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HR Workforce &amp; Attrition </a:t>
            </a:r>
          </a:p>
          <a:p>
            <a:pPr marL="0" indent="0">
              <a:buNone/>
            </a:pPr>
            <a:r>
              <a:rPr lang="en-US" sz="3200" b="1" dirty="0">
                <a:solidFill>
                  <a:srgbClr val="FFFFFF"/>
                </a:solidFill>
                <a:latin typeface="Cambria" pitchFamily="34" charset="0"/>
                <a:ea typeface="Cambria" pitchFamily="34" charset="-122"/>
                <a:cs typeface="Cambria" pitchFamily="34" charset="-120"/>
              </a:rPr>
              <a:t>Analysis (2019-2025)</a:t>
            </a:r>
            <a:endParaRPr lang="en-US" sz="3200" dirty="0"/>
          </a:p>
        </p:txBody>
      </p:sp>
      <p:sp>
        <p:nvSpPr>
          <p:cNvPr id="21" name="Text 2">
            <a:extLst>
              <a:ext uri="{FF2B5EF4-FFF2-40B4-BE49-F238E27FC236}">
                <a16:creationId xmlns:a16="http://schemas.microsoft.com/office/drawing/2014/main" id="{1E1A4C98-A3A3-C9FD-87E3-69AEDCC1690A}"/>
              </a:ext>
            </a:extLst>
          </p:cNvPr>
          <p:cNvSpPr txBox="1"/>
          <p:nvPr/>
        </p:nvSpPr>
        <p:spPr>
          <a:xfrm>
            <a:off x="224973" y="1788160"/>
            <a:ext cx="9144000" cy="457200"/>
          </a:xfrm>
          <a:prstGeom prst="rect">
            <a:avLst/>
          </a:prstGeom>
          <a:noFill/>
          <a:ln/>
        </p:spPr>
        <p:txBody>
          <a:bodyPr wrap="square" lIns="0" tIns="0" rIns="0" bIns="0" rtlCol="0" anchor="ctr"/>
          <a:lstStyle/>
          <a:p>
            <a:pPr marL="0" indent="0">
              <a:buNone/>
            </a:pPr>
            <a:r>
              <a:rPr lang="en-US" i="1" dirty="0">
                <a:solidFill>
                  <a:schemeClr val="bg1">
                    <a:lumMod val="75000"/>
                  </a:schemeClr>
                </a:solidFill>
                <a:latin typeface="Cambria" pitchFamily="34" charset="0"/>
                <a:ea typeface="Cambria" pitchFamily="34" charset="-122"/>
                <a:cs typeface="Cambria" pitchFamily="34" charset="-120"/>
              </a:rPr>
              <a:t>Geoflex Workforce Solutions</a:t>
            </a:r>
            <a:endParaRPr lang="en-US" dirty="0">
              <a:solidFill>
                <a:schemeClr val="bg1">
                  <a:lumMod val="75000"/>
                </a:schemeClr>
              </a:solidFill>
            </a:endParaRPr>
          </a:p>
        </p:txBody>
      </p:sp>
      <p:sp>
        <p:nvSpPr>
          <p:cNvPr id="23" name="Text 4">
            <a:extLst>
              <a:ext uri="{FF2B5EF4-FFF2-40B4-BE49-F238E27FC236}">
                <a16:creationId xmlns:a16="http://schemas.microsoft.com/office/drawing/2014/main" id="{31270727-A2D8-411C-7889-337287A8D101}"/>
              </a:ext>
            </a:extLst>
          </p:cNvPr>
          <p:cNvSpPr txBox="1"/>
          <p:nvPr/>
        </p:nvSpPr>
        <p:spPr>
          <a:xfrm>
            <a:off x="224973" y="2328672"/>
            <a:ext cx="7772400" cy="640080"/>
          </a:xfrm>
          <a:prstGeom prst="rect">
            <a:avLst/>
          </a:prstGeom>
          <a:noFill/>
          <a:ln/>
        </p:spPr>
        <p:txBody>
          <a:bodyPr wrap="square" lIns="0" tIns="0" rIns="0" bIns="0" rtlCol="0" anchor="ctr"/>
          <a:lstStyle/>
          <a:p>
            <a:pPr marL="0" indent="0">
              <a:buNone/>
            </a:pPr>
            <a:r>
              <a:rPr lang="en-US" sz="1400" i="1" dirty="0">
                <a:solidFill>
                  <a:schemeClr val="bg1">
                    <a:lumMod val="95000"/>
                  </a:schemeClr>
                </a:solidFill>
                <a:latin typeface="Calibri" pitchFamily="34" charset="0"/>
                <a:ea typeface="Calibri" pitchFamily="34" charset="-122"/>
                <a:cs typeface="Calibri" pitchFamily="34" charset="-120"/>
              </a:rPr>
              <a:t>Examining workforce structure, employee attrition, recruitment effectiveness, </a:t>
            </a:r>
          </a:p>
          <a:p>
            <a:pPr marL="0" indent="0">
              <a:buNone/>
            </a:pPr>
            <a:r>
              <a:rPr lang="en-US" sz="1400" i="1" dirty="0">
                <a:solidFill>
                  <a:schemeClr val="bg1">
                    <a:lumMod val="95000"/>
                  </a:schemeClr>
                </a:solidFill>
                <a:latin typeface="Calibri" pitchFamily="34" charset="0"/>
                <a:ea typeface="Calibri" pitchFamily="34" charset="-122"/>
                <a:cs typeface="Calibri" pitchFamily="34" charset="-120"/>
              </a:rPr>
              <a:t>and data quality across Nigeria and Kenya.</a:t>
            </a:r>
            <a:endParaRPr lang="en-US" sz="1400" dirty="0">
              <a:solidFill>
                <a:schemeClr val="bg1">
                  <a:lumMod val="95000"/>
                </a:schemeClr>
              </a:solidFill>
            </a:endParaRPr>
          </a:p>
        </p:txBody>
      </p:sp>
      <p:sp>
        <p:nvSpPr>
          <p:cNvPr id="25" name="Text 5">
            <a:extLst>
              <a:ext uri="{FF2B5EF4-FFF2-40B4-BE49-F238E27FC236}">
                <a16:creationId xmlns:a16="http://schemas.microsoft.com/office/drawing/2014/main" id="{72261504-AA73-C563-7511-3FEBC4BE3196}"/>
              </a:ext>
            </a:extLst>
          </p:cNvPr>
          <p:cNvSpPr txBox="1"/>
          <p:nvPr/>
        </p:nvSpPr>
        <p:spPr>
          <a:xfrm>
            <a:off x="224973" y="3335382"/>
            <a:ext cx="2011680" cy="292608"/>
          </a:xfrm>
          <a:prstGeom prst="rect">
            <a:avLst/>
          </a:prstGeom>
          <a:noFill/>
          <a:ln/>
        </p:spPr>
        <p:txBody>
          <a:bodyPr wrap="square" lIns="0" tIns="0" rIns="0" bIns="0" rtlCol="0" anchor="ctr"/>
          <a:lstStyle/>
          <a:p>
            <a:pPr marL="0" indent="0">
              <a:buNone/>
            </a:pPr>
            <a:r>
              <a:rPr lang="en-US" sz="1000" b="1" kern="0" spc="100" dirty="0">
                <a:solidFill>
                  <a:srgbClr val="C9CCD1"/>
                </a:solidFill>
                <a:latin typeface="Calibri" pitchFamily="34" charset="0"/>
                <a:ea typeface="Calibri" pitchFamily="34" charset="-122"/>
                <a:cs typeface="Calibri" pitchFamily="34" charset="-120"/>
              </a:rPr>
              <a:t>PREPARED BY</a:t>
            </a:r>
            <a:endParaRPr lang="en-US" sz="1000" dirty="0"/>
          </a:p>
        </p:txBody>
      </p:sp>
      <p:sp>
        <p:nvSpPr>
          <p:cNvPr id="27" name="Text 6">
            <a:extLst>
              <a:ext uri="{FF2B5EF4-FFF2-40B4-BE49-F238E27FC236}">
                <a16:creationId xmlns:a16="http://schemas.microsoft.com/office/drawing/2014/main" id="{D8C11B53-29EB-575E-3B2C-26851EF7398F}"/>
              </a:ext>
            </a:extLst>
          </p:cNvPr>
          <p:cNvSpPr txBox="1"/>
          <p:nvPr/>
        </p:nvSpPr>
        <p:spPr>
          <a:xfrm>
            <a:off x="2236653" y="3317094"/>
            <a:ext cx="5486400" cy="310896"/>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Joecliff Ayibabrakemi Wilson</a:t>
            </a:r>
            <a:endParaRPr lang="en-US" sz="1400" dirty="0"/>
          </a:p>
        </p:txBody>
      </p:sp>
      <p:sp>
        <p:nvSpPr>
          <p:cNvPr id="29" name="Text 7">
            <a:extLst>
              <a:ext uri="{FF2B5EF4-FFF2-40B4-BE49-F238E27FC236}">
                <a16:creationId xmlns:a16="http://schemas.microsoft.com/office/drawing/2014/main" id="{EFD8F0A7-E6CC-3509-58A0-E92E9447F2F5}"/>
              </a:ext>
            </a:extLst>
          </p:cNvPr>
          <p:cNvSpPr txBox="1"/>
          <p:nvPr/>
        </p:nvSpPr>
        <p:spPr>
          <a:xfrm>
            <a:off x="224973" y="3719430"/>
            <a:ext cx="2011680" cy="292608"/>
          </a:xfrm>
          <a:prstGeom prst="rect">
            <a:avLst/>
          </a:prstGeom>
          <a:noFill/>
          <a:ln/>
        </p:spPr>
        <p:txBody>
          <a:bodyPr wrap="square" lIns="0" tIns="0" rIns="0" bIns="0" rtlCol="0" anchor="ctr"/>
          <a:lstStyle/>
          <a:p>
            <a:pPr marL="0" indent="0">
              <a:buNone/>
            </a:pPr>
            <a:r>
              <a:rPr lang="en-US" sz="1000" b="1" kern="0" spc="100" dirty="0">
                <a:solidFill>
                  <a:srgbClr val="C9CCD1"/>
                </a:solidFill>
                <a:latin typeface="Calibri" pitchFamily="34" charset="0"/>
                <a:ea typeface="Calibri" pitchFamily="34" charset="-122"/>
                <a:cs typeface="Calibri" pitchFamily="34" charset="-120"/>
              </a:rPr>
              <a:t>INSTRUCTOR</a:t>
            </a:r>
            <a:endParaRPr lang="en-US" sz="1000" dirty="0"/>
          </a:p>
        </p:txBody>
      </p:sp>
      <p:sp>
        <p:nvSpPr>
          <p:cNvPr id="31" name="Text 8">
            <a:extLst>
              <a:ext uri="{FF2B5EF4-FFF2-40B4-BE49-F238E27FC236}">
                <a16:creationId xmlns:a16="http://schemas.microsoft.com/office/drawing/2014/main" id="{8A18346B-5952-2048-0B75-2B348F5114AF}"/>
              </a:ext>
            </a:extLst>
          </p:cNvPr>
          <p:cNvSpPr txBox="1"/>
          <p:nvPr/>
        </p:nvSpPr>
        <p:spPr>
          <a:xfrm>
            <a:off x="2236653" y="3701142"/>
            <a:ext cx="5486400" cy="310896"/>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Mr. Felix R.R.</a:t>
            </a:r>
            <a:endParaRPr lang="en-US" sz="1400" dirty="0"/>
          </a:p>
        </p:txBody>
      </p:sp>
      <p:sp>
        <p:nvSpPr>
          <p:cNvPr id="33" name="Text 9">
            <a:extLst>
              <a:ext uri="{FF2B5EF4-FFF2-40B4-BE49-F238E27FC236}">
                <a16:creationId xmlns:a16="http://schemas.microsoft.com/office/drawing/2014/main" id="{7F96A1B4-CE7E-C8FD-E142-389B674679D9}"/>
              </a:ext>
            </a:extLst>
          </p:cNvPr>
          <p:cNvSpPr txBox="1"/>
          <p:nvPr/>
        </p:nvSpPr>
        <p:spPr>
          <a:xfrm>
            <a:off x="224973" y="4103478"/>
            <a:ext cx="2011680" cy="292608"/>
          </a:xfrm>
          <a:prstGeom prst="rect">
            <a:avLst/>
          </a:prstGeom>
          <a:noFill/>
          <a:ln/>
        </p:spPr>
        <p:txBody>
          <a:bodyPr wrap="square" lIns="0" tIns="0" rIns="0" bIns="0" rtlCol="0" anchor="ctr"/>
          <a:lstStyle/>
          <a:p>
            <a:pPr marL="0" indent="0">
              <a:buNone/>
            </a:pPr>
            <a:r>
              <a:rPr lang="en-US" sz="1000" b="1" kern="0" spc="100" dirty="0">
                <a:solidFill>
                  <a:srgbClr val="C9CCD1"/>
                </a:solidFill>
                <a:latin typeface="Calibri" pitchFamily="34" charset="0"/>
                <a:ea typeface="Calibri" pitchFamily="34" charset="-122"/>
                <a:cs typeface="Calibri" pitchFamily="34" charset="-120"/>
              </a:rPr>
              <a:t>DATE</a:t>
            </a:r>
            <a:endParaRPr lang="en-US" sz="1000" dirty="0"/>
          </a:p>
        </p:txBody>
      </p:sp>
      <p:sp>
        <p:nvSpPr>
          <p:cNvPr id="35" name="Text 10">
            <a:extLst>
              <a:ext uri="{FF2B5EF4-FFF2-40B4-BE49-F238E27FC236}">
                <a16:creationId xmlns:a16="http://schemas.microsoft.com/office/drawing/2014/main" id="{4E6DDB26-9133-2823-9609-2666F2F7BD68}"/>
              </a:ext>
            </a:extLst>
          </p:cNvPr>
          <p:cNvSpPr txBox="1"/>
          <p:nvPr/>
        </p:nvSpPr>
        <p:spPr>
          <a:xfrm>
            <a:off x="2236653" y="4085190"/>
            <a:ext cx="5486400" cy="310896"/>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September 2026</a:t>
            </a:r>
            <a:endParaRPr lang="en-US" sz="1400" dirty="0"/>
          </a:p>
        </p:txBody>
      </p:sp>
      <p:sp>
        <p:nvSpPr>
          <p:cNvPr id="37" name="Text 6">
            <a:extLst>
              <a:ext uri="{FF2B5EF4-FFF2-40B4-BE49-F238E27FC236}">
                <a16:creationId xmlns:a16="http://schemas.microsoft.com/office/drawing/2014/main" id="{6F377A6C-E7C8-B15D-4BB1-DCFBB3B30066}"/>
              </a:ext>
            </a:extLst>
          </p:cNvPr>
          <p:cNvSpPr txBox="1"/>
          <p:nvPr/>
        </p:nvSpPr>
        <p:spPr>
          <a:xfrm>
            <a:off x="116114" y="4428525"/>
            <a:ext cx="10425610" cy="640079"/>
          </a:xfrm>
          <a:prstGeom prst="rect">
            <a:avLst/>
          </a:prstGeom>
          <a:noFill/>
          <a:ln/>
        </p:spPr>
        <p:txBody>
          <a:bodyPr wrap="square" lIns="0" tIns="0" rIns="0" bIns="0" rtlCol="0" anchor="ctr"/>
          <a:lstStyle/>
          <a:p>
            <a:r>
              <a:rPr lang="en-US" sz="1400" b="1" dirty="0">
                <a:solidFill>
                  <a:schemeClr val="bg1"/>
                </a:solidFill>
                <a:latin typeface="Baskerville Old Face" panose="02020602080505020303" pitchFamily="18" charset="0"/>
                <a:ea typeface="Cambria" pitchFamily="34" charset="-122"/>
                <a:cs typeface="Cambria" pitchFamily="34" charset="-120"/>
              </a:rPr>
              <a:t>Tools Used:  </a:t>
            </a:r>
            <a:r>
              <a:rPr lang="en-US" sz="1400" dirty="0">
                <a:solidFill>
                  <a:schemeClr val="bg1">
                    <a:lumMod val="95000"/>
                  </a:schemeClr>
                </a:solidFill>
                <a:ea typeface="Cambria" pitchFamily="34" charset="-122"/>
                <a:cs typeface="Cambria" pitchFamily="34" charset="-120"/>
              </a:rPr>
              <a:t>Microsoft Excel  </a:t>
            </a:r>
            <a:r>
              <a:rPr lang="en-US" sz="1400" dirty="0">
                <a:solidFill>
                  <a:schemeClr val="bg1">
                    <a:lumMod val="95000"/>
                  </a:schemeClr>
                </a:solidFill>
              </a:rPr>
              <a:t>• </a:t>
            </a:r>
            <a:r>
              <a:rPr lang="en-US" sz="1400" dirty="0">
                <a:solidFill>
                  <a:schemeClr val="bg1">
                    <a:lumMod val="95000"/>
                  </a:schemeClr>
                </a:solidFill>
                <a:ea typeface="Cambria" pitchFamily="34" charset="-122"/>
                <a:cs typeface="Cambria" pitchFamily="34" charset="-120"/>
              </a:rPr>
              <a:t>Power Query </a:t>
            </a:r>
            <a:r>
              <a:rPr lang="en-US" sz="1400" dirty="0">
                <a:solidFill>
                  <a:schemeClr val="bg1">
                    <a:lumMod val="95000"/>
                  </a:schemeClr>
                </a:solidFill>
              </a:rPr>
              <a:t>• </a:t>
            </a:r>
            <a:r>
              <a:rPr lang="en-US" sz="1400" dirty="0">
                <a:solidFill>
                  <a:schemeClr val="bg1">
                    <a:lumMod val="95000"/>
                  </a:schemeClr>
                </a:solidFill>
                <a:ea typeface="Cambria" pitchFamily="34" charset="-122"/>
                <a:cs typeface="Cambria" pitchFamily="34" charset="-120"/>
              </a:rPr>
              <a:t>Power BI </a:t>
            </a:r>
            <a:r>
              <a:rPr lang="en-US" sz="1400" dirty="0">
                <a:solidFill>
                  <a:schemeClr val="bg1">
                    <a:lumMod val="95000"/>
                  </a:schemeClr>
                </a:solidFill>
              </a:rPr>
              <a:t>• </a:t>
            </a:r>
            <a:r>
              <a:rPr lang="en-US" sz="1400" dirty="0">
                <a:solidFill>
                  <a:schemeClr val="bg1">
                    <a:lumMod val="95000"/>
                  </a:schemeClr>
                </a:solidFill>
                <a:ea typeface="Cambria" pitchFamily="34" charset="-122"/>
                <a:cs typeface="Cambria" pitchFamily="34" charset="-120"/>
              </a:rPr>
              <a:t>DAX </a:t>
            </a:r>
            <a:r>
              <a:rPr lang="en-US" sz="1400" dirty="0">
                <a:solidFill>
                  <a:schemeClr val="bg1">
                    <a:lumMod val="95000"/>
                  </a:schemeClr>
                </a:solidFill>
              </a:rPr>
              <a:t>• </a:t>
            </a:r>
            <a:r>
              <a:rPr lang="en-US" sz="1400" dirty="0">
                <a:solidFill>
                  <a:schemeClr val="bg1">
                    <a:lumMod val="95000"/>
                  </a:schemeClr>
                </a:solidFill>
                <a:ea typeface="Cambria" pitchFamily="34" charset="-122"/>
                <a:cs typeface="Cambria" pitchFamily="34" charset="-120"/>
              </a:rPr>
              <a:t>PowerPoint </a:t>
            </a:r>
            <a:r>
              <a:rPr lang="en-US" sz="1400" dirty="0">
                <a:solidFill>
                  <a:schemeClr val="bg1">
                    <a:lumMod val="95000"/>
                  </a:schemeClr>
                </a:solidFill>
              </a:rPr>
              <a:t>• AI Tools</a:t>
            </a:r>
          </a:p>
        </p:txBody>
      </p:sp>
      <p:sp>
        <p:nvSpPr>
          <p:cNvPr id="39" name="Text 19">
            <a:extLst>
              <a:ext uri="{FF2B5EF4-FFF2-40B4-BE49-F238E27FC236}">
                <a16:creationId xmlns:a16="http://schemas.microsoft.com/office/drawing/2014/main" id="{B59228C1-E5FC-8EC1-C98E-FD0313E5E776}"/>
              </a:ext>
            </a:extLst>
          </p:cNvPr>
          <p:cNvSpPr txBox="1"/>
          <p:nvPr/>
        </p:nvSpPr>
        <p:spPr>
          <a:xfrm>
            <a:off x="224973" y="6381201"/>
            <a:ext cx="5975419" cy="332621"/>
          </a:xfrm>
          <a:prstGeom prst="rect">
            <a:avLst/>
          </a:prstGeom>
          <a:noFill/>
          <a:ln/>
        </p:spPr>
        <p:txBody>
          <a:bodyPr wrap="square" lIns="0" tIns="0" rIns="0" bIns="0" rtlCol="0" anchor="ctr"/>
          <a:lstStyle/>
          <a:p>
            <a:pPr marL="0" indent="0">
              <a:buNone/>
            </a:pPr>
            <a:r>
              <a:rPr lang="en-US" sz="1200" dirty="0">
                <a:solidFill>
                  <a:schemeClr val="bg1">
                    <a:lumMod val="75000"/>
                  </a:schemeClr>
                </a:solidFill>
                <a:latin typeface="Calibri" pitchFamily="34" charset="0"/>
                <a:ea typeface="Calibri" pitchFamily="34" charset="-122"/>
                <a:cs typeface="Calibri" pitchFamily="34" charset="-120"/>
              </a:rPr>
              <a:t>AI tools for Research, brainstorming, documentation, and workflow support.</a:t>
            </a:r>
            <a:endParaRPr lang="en-US" sz="1200" dirty="0">
              <a:solidFill>
                <a:schemeClr val="bg1">
                  <a:lumMod val="75000"/>
                </a:schemeClr>
              </a:solidFill>
            </a:endParaRPr>
          </a:p>
        </p:txBody>
      </p:sp>
      <p:sp>
        <p:nvSpPr>
          <p:cNvPr id="41" name="Isosceles Triangle 40">
            <a:extLst>
              <a:ext uri="{FF2B5EF4-FFF2-40B4-BE49-F238E27FC236}">
                <a16:creationId xmlns:a16="http://schemas.microsoft.com/office/drawing/2014/main" id="{214CB370-2DB1-C409-21D4-5149647D2DFE}"/>
              </a:ext>
            </a:extLst>
          </p:cNvPr>
          <p:cNvSpPr/>
          <p:nvPr/>
        </p:nvSpPr>
        <p:spPr>
          <a:xfrm>
            <a:off x="7079570" y="3784308"/>
            <a:ext cx="3565482" cy="3073692"/>
          </a:xfrm>
          <a:prstGeom prst="triangle">
            <a:avLst/>
          </a:prstGeom>
          <a:solidFill>
            <a:srgbClr val="002060">
              <a:alpha val="2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Isosceles Triangle 41">
            <a:extLst>
              <a:ext uri="{FF2B5EF4-FFF2-40B4-BE49-F238E27FC236}">
                <a16:creationId xmlns:a16="http://schemas.microsoft.com/office/drawing/2014/main" id="{A1CF7D39-DC29-68B8-A0DC-3CCC0E55F2D9}"/>
              </a:ext>
            </a:extLst>
          </p:cNvPr>
          <p:cNvSpPr/>
          <p:nvPr/>
        </p:nvSpPr>
        <p:spPr>
          <a:xfrm rot="10800000">
            <a:off x="5940312" y="0"/>
            <a:ext cx="3565482" cy="3073692"/>
          </a:xfrm>
          <a:prstGeom prst="triangle">
            <a:avLst/>
          </a:prstGeom>
          <a:solidFill>
            <a:srgbClr val="002060">
              <a:alpha val="2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388963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ight Triangle 9">
            <a:extLst>
              <a:ext uri="{FF2B5EF4-FFF2-40B4-BE49-F238E27FC236}">
                <a16:creationId xmlns:a16="http://schemas.microsoft.com/office/drawing/2014/main" id="{B2019FA2-A16E-5095-C173-0CF736DDC956}"/>
              </a:ext>
            </a:extLst>
          </p:cNvPr>
          <p:cNvSpPr/>
          <p:nvPr/>
        </p:nvSpPr>
        <p:spPr>
          <a:xfrm flipH="1" flipV="1">
            <a:off x="156318" y="2455092"/>
            <a:ext cx="680723" cy="725714"/>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3837972B-0DE8-D09E-DC14-50808754B079}"/>
              </a:ext>
            </a:extLst>
          </p:cNvPr>
          <p:cNvSpPr/>
          <p:nvPr/>
        </p:nvSpPr>
        <p:spPr>
          <a:xfrm>
            <a:off x="-3628" y="-21047"/>
            <a:ext cx="12192000" cy="6858000"/>
          </a:xfrm>
          <a:prstGeom prst="rect">
            <a:avLst/>
          </a:prstGeom>
          <a:solidFill>
            <a:srgbClr val="002060">
              <a:alpha val="9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7BBDFE0A-C3B0-B856-46BE-B7ED61890B3F}"/>
              </a:ext>
            </a:extLst>
          </p:cNvPr>
          <p:cNvSpPr/>
          <p:nvPr/>
        </p:nvSpPr>
        <p:spPr>
          <a:xfrm>
            <a:off x="753146" y="736835"/>
            <a:ext cx="3907972" cy="5950859"/>
          </a:xfrm>
          <a:prstGeom prst="rect">
            <a:avLst/>
          </a:prstGeom>
          <a:solidFill>
            <a:schemeClr val="tx1">
              <a:alpha val="10000"/>
            </a:schemeClr>
          </a:solidFill>
          <a:ln w="38100">
            <a:noFill/>
          </a:ln>
          <a:effectLst>
            <a:softEdge rad="2032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97944353-20C9-1B04-DDDC-68244109597C}"/>
              </a:ext>
            </a:extLst>
          </p:cNvPr>
          <p:cNvSpPr/>
          <p:nvPr/>
        </p:nvSpPr>
        <p:spPr>
          <a:xfrm>
            <a:off x="475888" y="1276059"/>
            <a:ext cx="3472542" cy="5076085"/>
          </a:xfrm>
          <a:prstGeom prst="rect">
            <a:avLst/>
          </a:prstGeom>
          <a:solidFill>
            <a:schemeClr val="bg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 4">
            <a:extLst>
              <a:ext uri="{FF2B5EF4-FFF2-40B4-BE49-F238E27FC236}">
                <a16:creationId xmlns:a16="http://schemas.microsoft.com/office/drawing/2014/main" id="{9CAD62A3-EAD7-53F8-640F-57EECD04025D}"/>
              </a:ext>
            </a:extLst>
          </p:cNvPr>
          <p:cNvSpPr txBox="1"/>
          <p:nvPr/>
        </p:nvSpPr>
        <p:spPr>
          <a:xfrm>
            <a:off x="731194" y="2528351"/>
            <a:ext cx="3268035" cy="830944"/>
          </a:xfrm>
          <a:prstGeom prst="rect">
            <a:avLst/>
          </a:prstGeom>
          <a:noFill/>
          <a:ln/>
        </p:spPr>
        <p:txBody>
          <a:bodyPr wrap="square" lIns="0" tIns="0" rIns="0" bIns="0" rtlCol="0" anchor="ctr"/>
          <a:lstStyle/>
          <a:p>
            <a:pPr marL="0" indent="0">
              <a:buNone/>
            </a:pPr>
            <a:r>
              <a:rPr lang="en-US" sz="1200" dirty="0">
                <a:solidFill>
                  <a:srgbClr val="14161A"/>
                </a:solidFill>
                <a:latin typeface="Calibri" pitchFamily="34" charset="0"/>
                <a:ea typeface="Calibri" pitchFamily="34" charset="-122"/>
                <a:cs typeface="Calibri" pitchFamily="34" charset="-120"/>
              </a:rPr>
              <a:t>Customer Service recorded the highest departmental attrition rate at 18.3%, while Supply Chain recorded 13.3%.</a:t>
            </a:r>
            <a:endParaRPr lang="en-US" sz="1200" dirty="0"/>
          </a:p>
        </p:txBody>
      </p:sp>
      <p:sp>
        <p:nvSpPr>
          <p:cNvPr id="14" name="Text 8">
            <a:extLst>
              <a:ext uri="{FF2B5EF4-FFF2-40B4-BE49-F238E27FC236}">
                <a16:creationId xmlns:a16="http://schemas.microsoft.com/office/drawing/2014/main" id="{2659F2C2-A3BE-9F3B-A56A-5A97B94E99CA}"/>
              </a:ext>
            </a:extLst>
          </p:cNvPr>
          <p:cNvSpPr txBox="1"/>
          <p:nvPr/>
        </p:nvSpPr>
        <p:spPr>
          <a:xfrm>
            <a:off x="721955" y="3289799"/>
            <a:ext cx="3082979" cy="830944"/>
          </a:xfrm>
          <a:prstGeom prst="rect">
            <a:avLst/>
          </a:prstGeom>
          <a:noFill/>
          <a:ln/>
        </p:spPr>
        <p:txBody>
          <a:bodyPr wrap="square" lIns="0" tIns="0" rIns="0" bIns="0" rtlCol="0" anchor="ctr"/>
          <a:lstStyle/>
          <a:p>
            <a:pPr marL="0" indent="0">
              <a:buNone/>
            </a:pPr>
            <a:r>
              <a:rPr lang="en-US" sz="1200" dirty="0">
                <a:solidFill>
                  <a:srgbClr val="14161A"/>
                </a:solidFill>
                <a:latin typeface="Calibri" pitchFamily="34" charset="0"/>
                <a:ea typeface="Calibri" pitchFamily="34" charset="-122"/>
                <a:cs typeface="Calibri" pitchFamily="34" charset="-120"/>
              </a:rPr>
              <a:t>Campus Recruitment recorded a 17.9% hire rate, compared with 12.5% for Indeed.</a:t>
            </a:r>
            <a:endParaRPr lang="en-US" sz="1200" dirty="0"/>
          </a:p>
        </p:txBody>
      </p:sp>
      <p:sp>
        <p:nvSpPr>
          <p:cNvPr id="16" name="Text 14">
            <a:extLst>
              <a:ext uri="{FF2B5EF4-FFF2-40B4-BE49-F238E27FC236}">
                <a16:creationId xmlns:a16="http://schemas.microsoft.com/office/drawing/2014/main" id="{AEFA6EE1-5C4C-38A8-40E1-D95E0F034BBC}"/>
              </a:ext>
            </a:extLst>
          </p:cNvPr>
          <p:cNvSpPr txBox="1"/>
          <p:nvPr/>
        </p:nvSpPr>
        <p:spPr>
          <a:xfrm>
            <a:off x="725384" y="4051247"/>
            <a:ext cx="3173693" cy="907000"/>
          </a:xfrm>
          <a:prstGeom prst="rect">
            <a:avLst/>
          </a:prstGeom>
          <a:noFill/>
          <a:ln/>
        </p:spPr>
        <p:txBody>
          <a:bodyPr wrap="square" lIns="0" tIns="0" rIns="0" bIns="0" rtlCol="0" anchor="ctr"/>
          <a:lstStyle/>
          <a:p>
            <a:pPr marL="0" indent="0">
              <a:buNone/>
            </a:pPr>
            <a:r>
              <a:rPr lang="en-US" sz="1200" dirty="0">
                <a:solidFill>
                  <a:srgbClr val="14161A"/>
                </a:solidFill>
                <a:latin typeface="Calibri" pitchFamily="34" charset="0"/>
                <a:ea typeface="Calibri" pitchFamily="34" charset="-122"/>
                <a:cs typeface="Calibri" pitchFamily="34" charset="-120"/>
              </a:rPr>
              <a:t>148 exit records contained negative tenure values, indicating recorded exit dates that occurred before the corresponding hire dates.</a:t>
            </a:r>
            <a:endParaRPr lang="en-US" sz="1200" dirty="0"/>
          </a:p>
        </p:txBody>
      </p:sp>
      <p:sp>
        <p:nvSpPr>
          <p:cNvPr id="18" name="Text 10">
            <a:extLst>
              <a:ext uri="{FF2B5EF4-FFF2-40B4-BE49-F238E27FC236}">
                <a16:creationId xmlns:a16="http://schemas.microsoft.com/office/drawing/2014/main" id="{2744675A-ADD5-BDFD-C911-F39DB9917E2F}"/>
              </a:ext>
            </a:extLst>
          </p:cNvPr>
          <p:cNvSpPr txBox="1"/>
          <p:nvPr/>
        </p:nvSpPr>
        <p:spPr>
          <a:xfrm>
            <a:off x="725384" y="4888751"/>
            <a:ext cx="3082979" cy="685800"/>
          </a:xfrm>
          <a:prstGeom prst="rect">
            <a:avLst/>
          </a:prstGeom>
          <a:noFill/>
          <a:ln/>
        </p:spPr>
        <p:txBody>
          <a:bodyPr wrap="square" lIns="0" tIns="0" rIns="0" bIns="0" rtlCol="0" anchor="ctr"/>
          <a:lstStyle/>
          <a:p>
            <a:pPr marL="0" indent="0">
              <a:buNone/>
            </a:pPr>
            <a:r>
              <a:rPr lang="en-US" sz="1200" dirty="0">
                <a:solidFill>
                  <a:srgbClr val="14161A"/>
                </a:solidFill>
                <a:latin typeface="Calibri" pitchFamily="34" charset="0"/>
                <a:ea typeface="Calibri" pitchFamily="34" charset="-122"/>
                <a:cs typeface="Calibri" pitchFamily="34" charset="-120"/>
              </a:rPr>
              <a:t>Only 1.3% of performance reviews fell into the High performance category.</a:t>
            </a:r>
            <a:endParaRPr lang="en-US" sz="1200" dirty="0"/>
          </a:p>
        </p:txBody>
      </p:sp>
      <p:sp>
        <p:nvSpPr>
          <p:cNvPr id="20" name="Rectangle 19">
            <a:extLst>
              <a:ext uri="{FF2B5EF4-FFF2-40B4-BE49-F238E27FC236}">
                <a16:creationId xmlns:a16="http://schemas.microsoft.com/office/drawing/2014/main" id="{1ED1E4C8-4254-CF22-98BA-4F99CC9CB0DA}"/>
              </a:ext>
            </a:extLst>
          </p:cNvPr>
          <p:cNvSpPr/>
          <p:nvPr/>
        </p:nvSpPr>
        <p:spPr>
          <a:xfrm>
            <a:off x="7808140" y="706517"/>
            <a:ext cx="3907972" cy="5950859"/>
          </a:xfrm>
          <a:prstGeom prst="rect">
            <a:avLst/>
          </a:prstGeom>
          <a:solidFill>
            <a:schemeClr val="tx1">
              <a:alpha val="10000"/>
            </a:schemeClr>
          </a:solidFill>
          <a:ln w="38100">
            <a:noFill/>
          </a:ln>
          <a:effectLst>
            <a:softEdge rad="2032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ight Triangle 23">
            <a:extLst>
              <a:ext uri="{FF2B5EF4-FFF2-40B4-BE49-F238E27FC236}">
                <a16:creationId xmlns:a16="http://schemas.microsoft.com/office/drawing/2014/main" id="{A9D91835-A8A6-3C19-C0F8-2ACAB036FC27}"/>
              </a:ext>
            </a:extLst>
          </p:cNvPr>
          <p:cNvSpPr/>
          <p:nvPr/>
        </p:nvSpPr>
        <p:spPr>
          <a:xfrm flipH="1" flipV="1">
            <a:off x="8239402" y="2474887"/>
            <a:ext cx="680723" cy="725714"/>
          </a:xfrm>
          <a:prstGeom prst="rtTriangl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9FF709E-A4A3-D43F-6AE8-686C936D6C79}"/>
              </a:ext>
            </a:extLst>
          </p:cNvPr>
          <p:cNvSpPr/>
          <p:nvPr/>
        </p:nvSpPr>
        <p:spPr>
          <a:xfrm>
            <a:off x="8513728" y="1300823"/>
            <a:ext cx="3472542" cy="5076085"/>
          </a:xfrm>
          <a:prstGeom prst="rect">
            <a:avLst/>
          </a:prstGeom>
          <a:solidFill>
            <a:schemeClr val="bg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22C9757D-1A72-582E-B041-1B5FB3375FD9}"/>
              </a:ext>
            </a:extLst>
          </p:cNvPr>
          <p:cNvSpPr/>
          <p:nvPr/>
        </p:nvSpPr>
        <p:spPr>
          <a:xfrm>
            <a:off x="8239403" y="1610924"/>
            <a:ext cx="2320839" cy="870857"/>
          </a:xfrm>
          <a:prstGeom prst="rect">
            <a:avLst/>
          </a:prstGeom>
          <a:solidFill>
            <a:srgbClr val="FF5353">
              <a:alpha val="9882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kern="0" spc="150" dirty="0">
                <a:solidFill>
                  <a:schemeClr val="tx1"/>
                </a:solidFill>
                <a:latin typeface="Cascadia Mono SemiBold" panose="020B0609020000020004" pitchFamily="49" charset="0"/>
                <a:ea typeface="Calibri" pitchFamily="34" charset="-122"/>
                <a:cs typeface="Cascadia Mono SemiBold" panose="020B0609020000020004" pitchFamily="49" charset="0"/>
              </a:rPr>
              <a:t>B U S I N E S S   P R O B L E M</a:t>
            </a:r>
            <a:endParaRPr lang="en-US" sz="1600" dirty="0">
              <a:solidFill>
                <a:schemeClr val="tx1"/>
              </a:solidFill>
              <a:latin typeface="Cascadia Mono SemiBold" panose="020B0609020000020004" pitchFamily="49" charset="0"/>
              <a:cs typeface="Cascadia Mono SemiBold" panose="020B0609020000020004" pitchFamily="49" charset="0"/>
            </a:endParaRPr>
          </a:p>
        </p:txBody>
      </p:sp>
      <p:sp>
        <p:nvSpPr>
          <p:cNvPr id="28" name="Text 4">
            <a:extLst>
              <a:ext uri="{FF2B5EF4-FFF2-40B4-BE49-F238E27FC236}">
                <a16:creationId xmlns:a16="http://schemas.microsoft.com/office/drawing/2014/main" id="{F3DB57BC-730E-98C3-7AFA-150DE6488BCF}"/>
              </a:ext>
            </a:extLst>
          </p:cNvPr>
          <p:cNvSpPr txBox="1"/>
          <p:nvPr/>
        </p:nvSpPr>
        <p:spPr>
          <a:xfrm>
            <a:off x="8564527" y="2481781"/>
            <a:ext cx="3421743" cy="637177"/>
          </a:xfrm>
          <a:prstGeom prst="rect">
            <a:avLst/>
          </a:prstGeom>
          <a:noFill/>
          <a:ln/>
        </p:spPr>
        <p:txBody>
          <a:bodyPr wrap="square" lIns="0" tIns="0" rIns="0" bIns="0" rtlCol="0" anchor="ctr"/>
          <a:lstStyle/>
          <a:p>
            <a:pPr marL="0" indent="0">
              <a:buNone/>
            </a:pPr>
            <a:r>
              <a:rPr lang="en-US" sz="1100" b="1" kern="0" spc="100" dirty="0">
                <a:solidFill>
                  <a:srgbClr val="FF5353"/>
                </a:solidFill>
                <a:latin typeface="Calibri" pitchFamily="34" charset="0"/>
                <a:ea typeface="Calibri" pitchFamily="34" charset="-122"/>
                <a:cs typeface="Calibri" pitchFamily="34" charset="-120"/>
              </a:rPr>
              <a:t>THE ANALYSIS FOCUSES ON THREE BUSINESS QUESTIONS</a:t>
            </a:r>
            <a:endParaRPr lang="en-US" sz="1100" dirty="0">
              <a:solidFill>
                <a:srgbClr val="FF5353"/>
              </a:solidFill>
            </a:endParaRPr>
          </a:p>
        </p:txBody>
      </p:sp>
      <p:sp>
        <p:nvSpPr>
          <p:cNvPr id="30" name="Text 5">
            <a:extLst>
              <a:ext uri="{FF2B5EF4-FFF2-40B4-BE49-F238E27FC236}">
                <a16:creationId xmlns:a16="http://schemas.microsoft.com/office/drawing/2014/main" id="{DAF97542-A72A-D101-36C8-879FC917BD5E}"/>
              </a:ext>
            </a:extLst>
          </p:cNvPr>
          <p:cNvSpPr txBox="1"/>
          <p:nvPr/>
        </p:nvSpPr>
        <p:spPr>
          <a:xfrm>
            <a:off x="8571784" y="3252488"/>
            <a:ext cx="731520" cy="548640"/>
          </a:xfrm>
          <a:prstGeom prst="rect">
            <a:avLst/>
          </a:prstGeom>
          <a:noFill/>
          <a:ln/>
        </p:spPr>
        <p:txBody>
          <a:bodyPr wrap="square" lIns="0" tIns="0" rIns="0" bIns="0" rtlCol="0" anchor="ctr"/>
          <a:lstStyle/>
          <a:p>
            <a:pPr marL="0" indent="0">
              <a:buNone/>
            </a:pPr>
            <a:r>
              <a:rPr lang="en-US" sz="2600" b="1" dirty="0">
                <a:solidFill>
                  <a:srgbClr val="FF5353"/>
                </a:solidFill>
                <a:latin typeface="Cambria" pitchFamily="34" charset="0"/>
                <a:ea typeface="Cambria" pitchFamily="34" charset="-122"/>
                <a:cs typeface="Cambria" pitchFamily="34" charset="-120"/>
              </a:rPr>
              <a:t>01</a:t>
            </a:r>
            <a:endParaRPr lang="en-US" sz="2600" dirty="0">
              <a:solidFill>
                <a:srgbClr val="FF5353"/>
              </a:solidFill>
            </a:endParaRPr>
          </a:p>
        </p:txBody>
      </p:sp>
      <p:sp>
        <p:nvSpPr>
          <p:cNvPr id="32" name="Text 6">
            <a:extLst>
              <a:ext uri="{FF2B5EF4-FFF2-40B4-BE49-F238E27FC236}">
                <a16:creationId xmlns:a16="http://schemas.microsoft.com/office/drawing/2014/main" id="{0C796E83-C6A1-4AA0-83E9-00E8995442C6}"/>
              </a:ext>
            </a:extLst>
          </p:cNvPr>
          <p:cNvSpPr txBox="1"/>
          <p:nvPr/>
        </p:nvSpPr>
        <p:spPr>
          <a:xfrm>
            <a:off x="9072442" y="3254809"/>
            <a:ext cx="2889793" cy="502920"/>
          </a:xfrm>
          <a:prstGeom prst="rect">
            <a:avLst/>
          </a:prstGeom>
          <a:noFill/>
          <a:ln/>
        </p:spPr>
        <p:txBody>
          <a:bodyPr wrap="square" lIns="0" tIns="0" rIns="0" bIns="0" rtlCol="0" anchor="ctr"/>
          <a:lstStyle/>
          <a:p>
            <a:pPr marL="0" indent="0">
              <a:buNone/>
            </a:pPr>
            <a:r>
              <a:rPr lang="en-US" sz="1600" dirty="0">
                <a:solidFill>
                  <a:srgbClr val="14161A"/>
                </a:solidFill>
                <a:latin typeface="Calibri" pitchFamily="34" charset="0"/>
                <a:ea typeface="Calibri" pitchFamily="34" charset="-122"/>
                <a:cs typeface="Calibri" pitchFamily="34" charset="-120"/>
              </a:rPr>
              <a:t>Where is employee attrition highest?</a:t>
            </a:r>
            <a:endParaRPr lang="en-US" sz="1600" dirty="0"/>
          </a:p>
        </p:txBody>
      </p:sp>
      <p:sp>
        <p:nvSpPr>
          <p:cNvPr id="34" name="Text 8">
            <a:extLst>
              <a:ext uri="{FF2B5EF4-FFF2-40B4-BE49-F238E27FC236}">
                <a16:creationId xmlns:a16="http://schemas.microsoft.com/office/drawing/2014/main" id="{E5D5D2D7-19A3-E74A-75FE-A2557011F773}"/>
              </a:ext>
            </a:extLst>
          </p:cNvPr>
          <p:cNvSpPr txBox="1"/>
          <p:nvPr/>
        </p:nvSpPr>
        <p:spPr>
          <a:xfrm>
            <a:off x="8571784" y="4258328"/>
            <a:ext cx="731520" cy="548640"/>
          </a:xfrm>
          <a:prstGeom prst="rect">
            <a:avLst/>
          </a:prstGeom>
          <a:noFill/>
          <a:ln/>
        </p:spPr>
        <p:txBody>
          <a:bodyPr wrap="square" lIns="0" tIns="0" rIns="0" bIns="0" rtlCol="0" anchor="ctr"/>
          <a:lstStyle/>
          <a:p>
            <a:pPr marL="0" indent="0">
              <a:buNone/>
            </a:pPr>
            <a:r>
              <a:rPr lang="en-US" sz="2600" b="1" dirty="0">
                <a:solidFill>
                  <a:srgbClr val="FF5353"/>
                </a:solidFill>
                <a:latin typeface="Cambria" pitchFamily="34" charset="0"/>
                <a:ea typeface="Cambria" pitchFamily="34" charset="-122"/>
                <a:cs typeface="Cambria" pitchFamily="34" charset="-120"/>
              </a:rPr>
              <a:t>02</a:t>
            </a:r>
            <a:endParaRPr lang="en-US" sz="2600" dirty="0">
              <a:solidFill>
                <a:srgbClr val="FF5353"/>
              </a:solidFill>
            </a:endParaRPr>
          </a:p>
        </p:txBody>
      </p:sp>
      <p:sp>
        <p:nvSpPr>
          <p:cNvPr id="36" name="Text 9">
            <a:extLst>
              <a:ext uri="{FF2B5EF4-FFF2-40B4-BE49-F238E27FC236}">
                <a16:creationId xmlns:a16="http://schemas.microsoft.com/office/drawing/2014/main" id="{6380495F-D245-3295-00C0-D7B49A2A172D}"/>
              </a:ext>
            </a:extLst>
          </p:cNvPr>
          <p:cNvSpPr txBox="1"/>
          <p:nvPr/>
        </p:nvSpPr>
        <p:spPr>
          <a:xfrm>
            <a:off x="9104088" y="4222221"/>
            <a:ext cx="2804886" cy="620853"/>
          </a:xfrm>
          <a:prstGeom prst="rect">
            <a:avLst/>
          </a:prstGeom>
          <a:noFill/>
          <a:ln/>
        </p:spPr>
        <p:txBody>
          <a:bodyPr wrap="square" lIns="0" tIns="0" rIns="0" bIns="0" rtlCol="0" anchor="ctr"/>
          <a:lstStyle/>
          <a:p>
            <a:pPr marL="0" indent="0">
              <a:buNone/>
            </a:pPr>
            <a:r>
              <a:rPr lang="en-US" sz="1600" dirty="0">
                <a:solidFill>
                  <a:srgbClr val="14161A"/>
                </a:solidFill>
                <a:latin typeface="Calibri" pitchFamily="34" charset="0"/>
                <a:ea typeface="Calibri" pitchFamily="34" charset="-122"/>
                <a:cs typeface="Calibri" pitchFamily="34" charset="-120"/>
              </a:rPr>
              <a:t>Which recruitment sources produce the highest hire rates?</a:t>
            </a:r>
            <a:endParaRPr lang="en-US" sz="1600" dirty="0"/>
          </a:p>
        </p:txBody>
      </p:sp>
      <p:sp>
        <p:nvSpPr>
          <p:cNvPr id="38" name="Text 11">
            <a:extLst>
              <a:ext uri="{FF2B5EF4-FFF2-40B4-BE49-F238E27FC236}">
                <a16:creationId xmlns:a16="http://schemas.microsoft.com/office/drawing/2014/main" id="{F2B6BBBD-DF03-4051-2C76-4A3F6A0622BE}"/>
              </a:ext>
            </a:extLst>
          </p:cNvPr>
          <p:cNvSpPr txBox="1"/>
          <p:nvPr/>
        </p:nvSpPr>
        <p:spPr>
          <a:xfrm>
            <a:off x="8571784" y="5264169"/>
            <a:ext cx="731520" cy="548640"/>
          </a:xfrm>
          <a:prstGeom prst="rect">
            <a:avLst/>
          </a:prstGeom>
          <a:noFill/>
          <a:ln/>
        </p:spPr>
        <p:txBody>
          <a:bodyPr wrap="square" lIns="0" tIns="0" rIns="0" bIns="0" rtlCol="0" anchor="ctr"/>
          <a:lstStyle/>
          <a:p>
            <a:pPr marL="0" indent="0">
              <a:buNone/>
            </a:pPr>
            <a:r>
              <a:rPr lang="en-US" sz="2600" b="1" dirty="0">
                <a:solidFill>
                  <a:srgbClr val="FF5353"/>
                </a:solidFill>
                <a:latin typeface="Cambria" pitchFamily="34" charset="0"/>
                <a:ea typeface="Cambria" pitchFamily="34" charset="-122"/>
                <a:cs typeface="Cambria" pitchFamily="34" charset="-120"/>
              </a:rPr>
              <a:t>03</a:t>
            </a:r>
            <a:endParaRPr lang="en-US" sz="2600" dirty="0">
              <a:solidFill>
                <a:srgbClr val="FF5353"/>
              </a:solidFill>
            </a:endParaRPr>
          </a:p>
        </p:txBody>
      </p:sp>
      <p:sp>
        <p:nvSpPr>
          <p:cNvPr id="40" name="Text 12">
            <a:extLst>
              <a:ext uri="{FF2B5EF4-FFF2-40B4-BE49-F238E27FC236}">
                <a16:creationId xmlns:a16="http://schemas.microsoft.com/office/drawing/2014/main" id="{19F296BD-E740-C88D-89C4-FCA37119811E}"/>
              </a:ext>
            </a:extLst>
          </p:cNvPr>
          <p:cNvSpPr txBox="1"/>
          <p:nvPr/>
        </p:nvSpPr>
        <p:spPr>
          <a:xfrm>
            <a:off x="9136027" y="5165295"/>
            <a:ext cx="2469606" cy="845094"/>
          </a:xfrm>
          <a:prstGeom prst="rect">
            <a:avLst/>
          </a:prstGeom>
          <a:noFill/>
          <a:ln/>
        </p:spPr>
        <p:txBody>
          <a:bodyPr wrap="square" lIns="0" tIns="0" rIns="0" bIns="0" rtlCol="0" anchor="ctr"/>
          <a:lstStyle/>
          <a:p>
            <a:pPr marL="0" indent="0">
              <a:buNone/>
            </a:pPr>
            <a:r>
              <a:rPr lang="en-US" sz="1600" dirty="0">
                <a:solidFill>
                  <a:srgbClr val="14161A"/>
                </a:solidFill>
                <a:latin typeface="Calibri" pitchFamily="34" charset="0"/>
                <a:ea typeface="Calibri" pitchFamily="34" charset="-122"/>
                <a:cs typeface="Calibri" pitchFamily="34" charset="-120"/>
              </a:rPr>
              <a:t>Which departments and branches require further HR attention?</a:t>
            </a:r>
            <a:endParaRPr lang="en-US" sz="1600" dirty="0"/>
          </a:p>
        </p:txBody>
      </p:sp>
      <p:sp>
        <p:nvSpPr>
          <p:cNvPr id="42" name="Shape 3">
            <a:extLst>
              <a:ext uri="{FF2B5EF4-FFF2-40B4-BE49-F238E27FC236}">
                <a16:creationId xmlns:a16="http://schemas.microsoft.com/office/drawing/2014/main" id="{6374DC9F-2B0E-6C36-69DC-61F18EBCE053}"/>
              </a:ext>
            </a:extLst>
          </p:cNvPr>
          <p:cNvSpPr/>
          <p:nvPr/>
        </p:nvSpPr>
        <p:spPr>
          <a:xfrm>
            <a:off x="545516" y="3562605"/>
            <a:ext cx="82296" cy="82296"/>
          </a:xfrm>
          <a:prstGeom prst="ellipse">
            <a:avLst/>
          </a:prstGeom>
          <a:solidFill>
            <a:schemeClr val="accent6">
              <a:lumMod val="50000"/>
            </a:schemeClr>
          </a:solidFill>
          <a:ln/>
        </p:spPr>
        <p:txBody>
          <a:bodyPr/>
          <a:lstStyle/>
          <a:p>
            <a:endParaRPr lang="en-US"/>
          </a:p>
        </p:txBody>
      </p:sp>
      <p:sp>
        <p:nvSpPr>
          <p:cNvPr id="44" name="Shape 3">
            <a:extLst>
              <a:ext uri="{FF2B5EF4-FFF2-40B4-BE49-F238E27FC236}">
                <a16:creationId xmlns:a16="http://schemas.microsoft.com/office/drawing/2014/main" id="{23B79D43-28DE-FDA5-D289-61D77A53174F}"/>
              </a:ext>
            </a:extLst>
          </p:cNvPr>
          <p:cNvSpPr/>
          <p:nvPr/>
        </p:nvSpPr>
        <p:spPr>
          <a:xfrm>
            <a:off x="545516" y="4279173"/>
            <a:ext cx="82296" cy="82296"/>
          </a:xfrm>
          <a:prstGeom prst="ellipse">
            <a:avLst/>
          </a:prstGeom>
          <a:solidFill>
            <a:schemeClr val="accent6">
              <a:lumMod val="50000"/>
            </a:schemeClr>
          </a:solidFill>
          <a:ln/>
        </p:spPr>
        <p:txBody>
          <a:bodyPr/>
          <a:lstStyle/>
          <a:p>
            <a:endParaRPr lang="en-US"/>
          </a:p>
        </p:txBody>
      </p:sp>
      <p:sp>
        <p:nvSpPr>
          <p:cNvPr id="46" name="Shape 3">
            <a:extLst>
              <a:ext uri="{FF2B5EF4-FFF2-40B4-BE49-F238E27FC236}">
                <a16:creationId xmlns:a16="http://schemas.microsoft.com/office/drawing/2014/main" id="{24442DF8-489B-FE4A-DCED-10A3D46959DC}"/>
              </a:ext>
            </a:extLst>
          </p:cNvPr>
          <p:cNvSpPr/>
          <p:nvPr/>
        </p:nvSpPr>
        <p:spPr>
          <a:xfrm>
            <a:off x="545516" y="5105981"/>
            <a:ext cx="82296" cy="82296"/>
          </a:xfrm>
          <a:prstGeom prst="ellipse">
            <a:avLst/>
          </a:prstGeom>
          <a:solidFill>
            <a:schemeClr val="accent6">
              <a:lumMod val="50000"/>
            </a:schemeClr>
          </a:solidFill>
          <a:ln/>
        </p:spPr>
        <p:txBody>
          <a:bodyPr/>
          <a:lstStyle/>
          <a:p>
            <a:endParaRPr lang="en-US"/>
          </a:p>
        </p:txBody>
      </p:sp>
      <p:sp>
        <p:nvSpPr>
          <p:cNvPr id="51" name="Shape 3">
            <a:extLst>
              <a:ext uri="{FF2B5EF4-FFF2-40B4-BE49-F238E27FC236}">
                <a16:creationId xmlns:a16="http://schemas.microsoft.com/office/drawing/2014/main" id="{A3BFF20B-F24A-8A9D-BF76-5DA35E36886E}"/>
              </a:ext>
            </a:extLst>
          </p:cNvPr>
          <p:cNvSpPr/>
          <p:nvPr/>
        </p:nvSpPr>
        <p:spPr>
          <a:xfrm>
            <a:off x="545516" y="5637135"/>
            <a:ext cx="82296" cy="82296"/>
          </a:xfrm>
          <a:prstGeom prst="ellipse">
            <a:avLst/>
          </a:prstGeom>
          <a:solidFill>
            <a:schemeClr val="accent6">
              <a:lumMod val="50000"/>
            </a:schemeClr>
          </a:solidFill>
          <a:ln/>
        </p:spPr>
        <p:txBody>
          <a:bodyPr/>
          <a:lstStyle/>
          <a:p>
            <a:endParaRPr lang="en-US"/>
          </a:p>
        </p:txBody>
      </p:sp>
      <p:sp>
        <p:nvSpPr>
          <p:cNvPr id="122" name="Rectangle 121">
            <a:extLst>
              <a:ext uri="{FF2B5EF4-FFF2-40B4-BE49-F238E27FC236}">
                <a16:creationId xmlns:a16="http://schemas.microsoft.com/office/drawing/2014/main" id="{72E3C3F1-3F2E-59A7-A401-C7264FC6216B}"/>
              </a:ext>
            </a:extLst>
          </p:cNvPr>
          <p:cNvSpPr/>
          <p:nvPr/>
        </p:nvSpPr>
        <p:spPr>
          <a:xfrm>
            <a:off x="-3627" y="-21047"/>
            <a:ext cx="12192000" cy="1178562"/>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Text 3">
            <a:extLst>
              <a:ext uri="{FF2B5EF4-FFF2-40B4-BE49-F238E27FC236}">
                <a16:creationId xmlns:a16="http://schemas.microsoft.com/office/drawing/2014/main" id="{CCBB92A0-94FE-B98F-930C-1A9543473B49}"/>
              </a:ext>
            </a:extLst>
          </p:cNvPr>
          <p:cNvSpPr txBox="1"/>
          <p:nvPr/>
        </p:nvSpPr>
        <p:spPr>
          <a:xfrm>
            <a:off x="391886" y="81099"/>
            <a:ext cx="11517088" cy="988061"/>
          </a:xfrm>
          <a:prstGeom prst="rect">
            <a:avLst/>
          </a:prstGeom>
          <a:noFill/>
          <a:ln/>
        </p:spPr>
        <p:txBody>
          <a:bodyPr wrap="square" lIns="0" tIns="0" rIns="0" bIns="0" rtlCol="0" anchor="ctr"/>
          <a:lstStyle/>
          <a:p>
            <a:r>
              <a:rPr lang="en-US" dirty="0">
                <a:solidFill>
                  <a:schemeClr val="bg1"/>
                </a:solidFill>
              </a:rPr>
              <a:t>GeoFlex Workforce Solutions had HR information spread across eight separate datasets. The data contained duplicate records, missing values, inconsistent formats, and other quality issues, making it difficult to rely on for accurate workforce decisions. The first step was to clean, organize, and understand the data so it could provide reliable insights for decision-making.</a:t>
            </a:r>
          </a:p>
        </p:txBody>
      </p:sp>
      <p:sp>
        <p:nvSpPr>
          <p:cNvPr id="13" name="Right Triangle 12">
            <a:extLst>
              <a:ext uri="{FF2B5EF4-FFF2-40B4-BE49-F238E27FC236}">
                <a16:creationId xmlns:a16="http://schemas.microsoft.com/office/drawing/2014/main" id="{CD013612-9C28-34FB-3E8F-2BEF0120CCDB}"/>
              </a:ext>
            </a:extLst>
          </p:cNvPr>
          <p:cNvSpPr/>
          <p:nvPr/>
        </p:nvSpPr>
        <p:spPr>
          <a:xfrm flipH="1" flipV="1">
            <a:off x="4227502" y="2474887"/>
            <a:ext cx="680723" cy="725714"/>
          </a:xfrm>
          <a:prstGeom prst="rtTriangl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FB38053-F7F4-7528-1191-5D7179B8B454}"/>
              </a:ext>
            </a:extLst>
          </p:cNvPr>
          <p:cNvSpPr/>
          <p:nvPr/>
        </p:nvSpPr>
        <p:spPr>
          <a:xfrm>
            <a:off x="4501828" y="1300823"/>
            <a:ext cx="3472542" cy="5076085"/>
          </a:xfrm>
          <a:prstGeom prst="rect">
            <a:avLst/>
          </a:prstGeom>
          <a:solidFill>
            <a:schemeClr val="bg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638D5A88-4754-0A49-C900-56E19BC2DE1C}"/>
              </a:ext>
            </a:extLst>
          </p:cNvPr>
          <p:cNvSpPr/>
          <p:nvPr/>
        </p:nvSpPr>
        <p:spPr>
          <a:xfrm>
            <a:off x="4227503" y="1610924"/>
            <a:ext cx="2320839" cy="870857"/>
          </a:xfrm>
          <a:prstGeom prst="rect">
            <a:avLst/>
          </a:prstGeom>
          <a:solidFill>
            <a:schemeClr val="accent2">
              <a:lumMod val="60000"/>
              <a:lumOff val="40000"/>
              <a:alpha val="9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kern="0" spc="100" dirty="0">
                <a:solidFill>
                  <a:schemeClr val="tx1"/>
                </a:solidFill>
                <a:latin typeface="Cascadia Code SemiBold" panose="020B0609020000020004" pitchFamily="49" charset="0"/>
                <a:ea typeface="Calibri" pitchFamily="34" charset="-122"/>
                <a:cs typeface="Cascadia Code SemiBold" panose="020B0609020000020004" pitchFamily="49" charset="0"/>
              </a:rPr>
              <a:t>PROJECT OBJECTIVES</a:t>
            </a:r>
            <a:endParaRPr lang="en-US" dirty="0">
              <a:solidFill>
                <a:schemeClr val="tx1"/>
              </a:solidFill>
              <a:latin typeface="Cascadia Code SemiBold" panose="020B0609020000020004" pitchFamily="49" charset="0"/>
              <a:cs typeface="Cascadia Code SemiBold" panose="020B0609020000020004" pitchFamily="49" charset="0"/>
            </a:endParaRPr>
          </a:p>
        </p:txBody>
      </p:sp>
      <p:sp>
        <p:nvSpPr>
          <p:cNvPr id="25" name="Text 4">
            <a:extLst>
              <a:ext uri="{FF2B5EF4-FFF2-40B4-BE49-F238E27FC236}">
                <a16:creationId xmlns:a16="http://schemas.microsoft.com/office/drawing/2014/main" id="{40330960-C4E2-CA9C-685A-E83632B22EB3}"/>
              </a:ext>
            </a:extLst>
          </p:cNvPr>
          <p:cNvSpPr txBox="1"/>
          <p:nvPr/>
        </p:nvSpPr>
        <p:spPr>
          <a:xfrm>
            <a:off x="4552627" y="2481781"/>
            <a:ext cx="3421743" cy="699025"/>
          </a:xfrm>
          <a:prstGeom prst="rect">
            <a:avLst/>
          </a:prstGeom>
          <a:noFill/>
          <a:ln/>
        </p:spPr>
        <p:txBody>
          <a:bodyPr wrap="square" lIns="0" tIns="0" rIns="0" bIns="0" rtlCol="0" anchor="ctr"/>
          <a:lstStyle/>
          <a:p>
            <a:r>
              <a:rPr lang="en-US" sz="1100" dirty="0">
                <a:solidFill>
                  <a:schemeClr val="accent2">
                    <a:lumMod val="75000"/>
                  </a:schemeClr>
                </a:solidFill>
                <a:ea typeface="Cambria" pitchFamily="34" charset="-122"/>
                <a:cs typeface="Cambria" pitchFamily="34" charset="-120"/>
              </a:rPr>
              <a:t>Where is Geoflex actually losing and gaining workforce value across Nigeria and Kenya, and what should leadership fix first?</a:t>
            </a:r>
            <a:endParaRPr lang="en-US" sz="1100" dirty="0">
              <a:solidFill>
                <a:schemeClr val="accent2">
                  <a:lumMod val="75000"/>
                </a:schemeClr>
              </a:solidFill>
            </a:endParaRPr>
          </a:p>
        </p:txBody>
      </p:sp>
      <p:sp>
        <p:nvSpPr>
          <p:cNvPr id="29" name="Text 5">
            <a:extLst>
              <a:ext uri="{FF2B5EF4-FFF2-40B4-BE49-F238E27FC236}">
                <a16:creationId xmlns:a16="http://schemas.microsoft.com/office/drawing/2014/main" id="{2B0D84A8-7A83-4BDB-CAF3-5251DE29C272}"/>
              </a:ext>
            </a:extLst>
          </p:cNvPr>
          <p:cNvSpPr txBox="1"/>
          <p:nvPr/>
        </p:nvSpPr>
        <p:spPr>
          <a:xfrm>
            <a:off x="4559884" y="3252488"/>
            <a:ext cx="731520" cy="548640"/>
          </a:xfrm>
          <a:prstGeom prst="rect">
            <a:avLst/>
          </a:prstGeom>
          <a:noFill/>
          <a:ln/>
        </p:spPr>
        <p:txBody>
          <a:bodyPr wrap="square" lIns="0" tIns="0" rIns="0" bIns="0" rtlCol="0" anchor="ctr"/>
          <a:lstStyle/>
          <a:p>
            <a:pPr marL="0" indent="0">
              <a:buNone/>
            </a:pPr>
            <a:r>
              <a:rPr lang="en-US" sz="2600" b="1" dirty="0">
                <a:solidFill>
                  <a:srgbClr val="D2461E"/>
                </a:solidFill>
                <a:latin typeface="Cambria" pitchFamily="34" charset="0"/>
                <a:ea typeface="Cambria" pitchFamily="34" charset="-122"/>
                <a:cs typeface="Cambria" pitchFamily="34" charset="-120"/>
              </a:rPr>
              <a:t>01</a:t>
            </a:r>
            <a:endParaRPr lang="en-US" sz="2600" dirty="0"/>
          </a:p>
        </p:txBody>
      </p:sp>
      <p:sp>
        <p:nvSpPr>
          <p:cNvPr id="37" name="Text 8">
            <a:extLst>
              <a:ext uri="{FF2B5EF4-FFF2-40B4-BE49-F238E27FC236}">
                <a16:creationId xmlns:a16="http://schemas.microsoft.com/office/drawing/2014/main" id="{5234ADBA-A245-5E1C-3F4F-AF0D2D380231}"/>
              </a:ext>
            </a:extLst>
          </p:cNvPr>
          <p:cNvSpPr txBox="1"/>
          <p:nvPr/>
        </p:nvSpPr>
        <p:spPr>
          <a:xfrm>
            <a:off x="4559884" y="4258328"/>
            <a:ext cx="731520" cy="548640"/>
          </a:xfrm>
          <a:prstGeom prst="rect">
            <a:avLst/>
          </a:prstGeom>
          <a:noFill/>
          <a:ln/>
        </p:spPr>
        <p:txBody>
          <a:bodyPr wrap="square" lIns="0" tIns="0" rIns="0" bIns="0" rtlCol="0" anchor="ctr"/>
          <a:lstStyle/>
          <a:p>
            <a:pPr marL="0" indent="0">
              <a:buNone/>
            </a:pPr>
            <a:r>
              <a:rPr lang="en-US" sz="2600" b="1" dirty="0">
                <a:solidFill>
                  <a:srgbClr val="D2461E"/>
                </a:solidFill>
                <a:latin typeface="Cambria" pitchFamily="34" charset="0"/>
                <a:ea typeface="Cambria" pitchFamily="34" charset="-122"/>
                <a:cs typeface="Cambria" pitchFamily="34" charset="-120"/>
              </a:rPr>
              <a:t>02</a:t>
            </a:r>
            <a:endParaRPr lang="en-US" sz="2600" dirty="0"/>
          </a:p>
        </p:txBody>
      </p:sp>
      <p:sp>
        <p:nvSpPr>
          <p:cNvPr id="45" name="Text 11">
            <a:extLst>
              <a:ext uri="{FF2B5EF4-FFF2-40B4-BE49-F238E27FC236}">
                <a16:creationId xmlns:a16="http://schemas.microsoft.com/office/drawing/2014/main" id="{0E1E3ACE-6493-623D-F442-D4472E47DCD6}"/>
              </a:ext>
            </a:extLst>
          </p:cNvPr>
          <p:cNvSpPr txBox="1"/>
          <p:nvPr/>
        </p:nvSpPr>
        <p:spPr>
          <a:xfrm>
            <a:off x="4559884" y="5264169"/>
            <a:ext cx="731520" cy="548640"/>
          </a:xfrm>
          <a:prstGeom prst="rect">
            <a:avLst/>
          </a:prstGeom>
          <a:noFill/>
          <a:ln/>
        </p:spPr>
        <p:txBody>
          <a:bodyPr wrap="square" lIns="0" tIns="0" rIns="0" bIns="0" rtlCol="0" anchor="ctr"/>
          <a:lstStyle/>
          <a:p>
            <a:pPr marL="0" indent="0">
              <a:buNone/>
            </a:pPr>
            <a:r>
              <a:rPr lang="en-US" sz="2600" b="1" dirty="0">
                <a:solidFill>
                  <a:srgbClr val="D2461E"/>
                </a:solidFill>
                <a:latin typeface="Cambria" pitchFamily="34" charset="0"/>
                <a:ea typeface="Cambria" pitchFamily="34" charset="-122"/>
                <a:cs typeface="Cambria" pitchFamily="34" charset="-120"/>
              </a:rPr>
              <a:t>03</a:t>
            </a:r>
            <a:endParaRPr lang="en-US" sz="2600" dirty="0"/>
          </a:p>
        </p:txBody>
      </p:sp>
      <p:sp>
        <p:nvSpPr>
          <p:cNvPr id="48" name="Text 12">
            <a:extLst>
              <a:ext uri="{FF2B5EF4-FFF2-40B4-BE49-F238E27FC236}">
                <a16:creationId xmlns:a16="http://schemas.microsoft.com/office/drawing/2014/main" id="{12A2070F-A321-8592-16D2-A3316F72B850}"/>
              </a:ext>
            </a:extLst>
          </p:cNvPr>
          <p:cNvSpPr txBox="1"/>
          <p:nvPr/>
        </p:nvSpPr>
        <p:spPr>
          <a:xfrm>
            <a:off x="5028695" y="3234738"/>
            <a:ext cx="2469606" cy="845094"/>
          </a:xfrm>
          <a:prstGeom prst="rect">
            <a:avLst/>
          </a:prstGeom>
          <a:noFill/>
          <a:ln/>
        </p:spPr>
        <p:txBody>
          <a:bodyPr wrap="square" lIns="0" tIns="0" rIns="0" bIns="0" rtlCol="0" anchor="ctr"/>
          <a:lstStyle/>
          <a:p>
            <a:r>
              <a:rPr lang="en-US" sz="1600" dirty="0">
                <a:latin typeface="Calibri" pitchFamily="34" charset="0"/>
                <a:ea typeface="Calibri" pitchFamily="34" charset="-122"/>
                <a:cs typeface="Calibri" pitchFamily="34" charset="-120"/>
              </a:rPr>
              <a:t>Clean &amp; validate 8 raw HR datasets (Excel / Power Query)</a:t>
            </a:r>
            <a:endParaRPr lang="en-US" sz="1600" dirty="0"/>
          </a:p>
        </p:txBody>
      </p:sp>
      <p:grpSp>
        <p:nvGrpSpPr>
          <p:cNvPr id="53" name="Group 52">
            <a:extLst>
              <a:ext uri="{FF2B5EF4-FFF2-40B4-BE49-F238E27FC236}">
                <a16:creationId xmlns:a16="http://schemas.microsoft.com/office/drawing/2014/main" id="{4B8CF493-98F1-B0DF-C4F5-A2EF74A095A7}"/>
              </a:ext>
            </a:extLst>
          </p:cNvPr>
          <p:cNvGrpSpPr/>
          <p:nvPr/>
        </p:nvGrpSpPr>
        <p:grpSpPr>
          <a:xfrm>
            <a:off x="139405" y="1591129"/>
            <a:ext cx="2363220" cy="1311474"/>
            <a:chOff x="139405" y="1591129"/>
            <a:chExt cx="2363220" cy="1311474"/>
          </a:xfrm>
        </p:grpSpPr>
        <p:sp>
          <p:nvSpPr>
            <p:cNvPr id="6" name="Rectangle 5">
              <a:extLst>
                <a:ext uri="{FF2B5EF4-FFF2-40B4-BE49-F238E27FC236}">
                  <a16:creationId xmlns:a16="http://schemas.microsoft.com/office/drawing/2014/main" id="{F5FAE3D7-C0A1-0081-AAFE-64A040D9A85A}"/>
                </a:ext>
              </a:extLst>
            </p:cNvPr>
            <p:cNvSpPr/>
            <p:nvPr/>
          </p:nvSpPr>
          <p:spPr>
            <a:xfrm>
              <a:off x="156318" y="1591129"/>
              <a:ext cx="2346307" cy="870857"/>
            </a:xfrm>
            <a:prstGeom prst="rect">
              <a:avLst/>
            </a:prstGeom>
            <a:solidFill>
              <a:schemeClr val="accent6">
                <a:lumMod val="60000"/>
                <a:lumOff val="40000"/>
                <a:alpha val="9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kern="0" spc="150" dirty="0">
                  <a:solidFill>
                    <a:srgbClr val="6B6F76"/>
                  </a:solidFill>
                  <a:latin typeface="Cascadia Code SemiBold" panose="020B0609020000020004" pitchFamily="49" charset="0"/>
                  <a:ea typeface="Calibri" pitchFamily="34" charset="-122"/>
                  <a:cs typeface="Cascadia Code SemiBold" panose="020B0609020000020004" pitchFamily="49" charset="0"/>
                </a:rPr>
                <a:t>  </a:t>
              </a:r>
              <a:r>
                <a:rPr lang="en-US" b="1" kern="0" spc="150" dirty="0">
                  <a:solidFill>
                    <a:schemeClr val="tx1"/>
                  </a:solidFill>
                  <a:latin typeface="Cascadia Code SemiBold" panose="020B0609020000020004" pitchFamily="49" charset="0"/>
                  <a:ea typeface="Calibri" pitchFamily="34" charset="-122"/>
                  <a:cs typeface="Cascadia Code SemiBold" panose="020B0609020000020004" pitchFamily="49" charset="0"/>
                </a:rPr>
                <a:t>K E Y   I N S I G H T S</a:t>
              </a:r>
              <a:endParaRPr lang="en-US" sz="1600" dirty="0">
                <a:solidFill>
                  <a:schemeClr val="tx1"/>
                </a:solidFill>
                <a:latin typeface="Cascadia Code SemiBold" panose="020B0609020000020004" pitchFamily="49" charset="0"/>
                <a:cs typeface="Cascadia Code SemiBold" panose="020B0609020000020004" pitchFamily="49" charset="0"/>
              </a:endParaRPr>
            </a:p>
          </p:txBody>
        </p:sp>
        <p:sp>
          <p:nvSpPr>
            <p:cNvPr id="50" name="Right Triangle 49">
              <a:extLst>
                <a:ext uri="{FF2B5EF4-FFF2-40B4-BE49-F238E27FC236}">
                  <a16:creationId xmlns:a16="http://schemas.microsoft.com/office/drawing/2014/main" id="{17AB4EFC-CEBA-88DB-5305-728F2B6139C2}"/>
                </a:ext>
              </a:extLst>
            </p:cNvPr>
            <p:cNvSpPr/>
            <p:nvPr/>
          </p:nvSpPr>
          <p:spPr>
            <a:xfrm flipH="1" flipV="1">
              <a:off x="139405" y="2461876"/>
              <a:ext cx="316706" cy="440727"/>
            </a:xfrm>
            <a:prstGeom prst="rtTriangle">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7" name="Text 12">
            <a:extLst>
              <a:ext uri="{FF2B5EF4-FFF2-40B4-BE49-F238E27FC236}">
                <a16:creationId xmlns:a16="http://schemas.microsoft.com/office/drawing/2014/main" id="{0B3CB69D-39A7-E788-9A3C-2A4BEAADE222}"/>
              </a:ext>
            </a:extLst>
          </p:cNvPr>
          <p:cNvSpPr txBox="1"/>
          <p:nvPr/>
        </p:nvSpPr>
        <p:spPr>
          <a:xfrm>
            <a:off x="5061278" y="4152959"/>
            <a:ext cx="2469606" cy="845094"/>
          </a:xfrm>
          <a:prstGeom prst="rect">
            <a:avLst/>
          </a:prstGeom>
          <a:noFill/>
          <a:ln/>
        </p:spPr>
        <p:txBody>
          <a:bodyPr wrap="square" lIns="0" tIns="0" rIns="0" bIns="0" rtlCol="0" anchor="ctr"/>
          <a:lstStyle/>
          <a:p>
            <a:pPr>
              <a:spcAft>
                <a:spcPts val="1000"/>
              </a:spcAft>
              <a:buSzPct val="100000"/>
            </a:pPr>
            <a:r>
              <a:rPr lang="en-US" sz="1600" dirty="0">
                <a:latin typeface="Calibri" pitchFamily="34" charset="0"/>
                <a:ea typeface="Calibri" pitchFamily="34" charset="-122"/>
                <a:cs typeface="Calibri" pitchFamily="34" charset="-120"/>
              </a:rPr>
              <a:t>Build an interactive HR dashboard (Power BI)</a:t>
            </a:r>
            <a:endParaRPr lang="en-US" sz="1600" dirty="0"/>
          </a:p>
        </p:txBody>
      </p:sp>
      <p:sp>
        <p:nvSpPr>
          <p:cNvPr id="59" name="Text 12">
            <a:extLst>
              <a:ext uri="{FF2B5EF4-FFF2-40B4-BE49-F238E27FC236}">
                <a16:creationId xmlns:a16="http://schemas.microsoft.com/office/drawing/2014/main" id="{6FDF4BF3-3AE9-6593-3F6A-70D31F210294}"/>
              </a:ext>
            </a:extLst>
          </p:cNvPr>
          <p:cNvSpPr txBox="1"/>
          <p:nvPr/>
        </p:nvSpPr>
        <p:spPr>
          <a:xfrm>
            <a:off x="5056413" y="5137830"/>
            <a:ext cx="2469606" cy="845094"/>
          </a:xfrm>
          <a:prstGeom prst="rect">
            <a:avLst/>
          </a:prstGeom>
          <a:noFill/>
          <a:ln/>
        </p:spPr>
        <p:txBody>
          <a:bodyPr wrap="square" lIns="0" tIns="0" rIns="0" bIns="0" rtlCol="0" anchor="ctr"/>
          <a:lstStyle/>
          <a:p>
            <a:pPr>
              <a:spcAft>
                <a:spcPts val="1000"/>
              </a:spcAft>
              <a:buSzPct val="100000"/>
            </a:pPr>
            <a:r>
              <a:rPr lang="en-US" sz="1600" dirty="0">
                <a:latin typeface="Calibri" pitchFamily="34" charset="0"/>
                <a:ea typeface="Calibri" pitchFamily="34" charset="-122"/>
                <a:cs typeface="Calibri" pitchFamily="34" charset="-120"/>
              </a:rPr>
              <a:t>Turn findings into recommendations for management</a:t>
            </a:r>
            <a:endParaRPr lang="en-US" sz="1600" dirty="0"/>
          </a:p>
        </p:txBody>
      </p:sp>
      <p:sp>
        <p:nvSpPr>
          <p:cNvPr id="61" name="Shape 2">
            <a:extLst>
              <a:ext uri="{FF2B5EF4-FFF2-40B4-BE49-F238E27FC236}">
                <a16:creationId xmlns:a16="http://schemas.microsoft.com/office/drawing/2014/main" id="{AD6194FC-866B-3E8A-99BD-3BC97BF45AC6}"/>
              </a:ext>
            </a:extLst>
          </p:cNvPr>
          <p:cNvSpPr/>
          <p:nvPr/>
        </p:nvSpPr>
        <p:spPr>
          <a:xfrm>
            <a:off x="4907280" y="4152959"/>
            <a:ext cx="2377440" cy="0"/>
          </a:xfrm>
          <a:prstGeom prst="line">
            <a:avLst/>
          </a:prstGeom>
          <a:noFill/>
          <a:ln w="12700">
            <a:solidFill>
              <a:srgbClr val="3A3D45"/>
            </a:solidFill>
            <a:prstDash val="solid"/>
          </a:ln>
        </p:spPr>
        <p:txBody>
          <a:bodyPr/>
          <a:lstStyle/>
          <a:p>
            <a:endParaRPr lang="en-US"/>
          </a:p>
        </p:txBody>
      </p:sp>
      <p:sp>
        <p:nvSpPr>
          <p:cNvPr id="63" name="Shape 2">
            <a:extLst>
              <a:ext uri="{FF2B5EF4-FFF2-40B4-BE49-F238E27FC236}">
                <a16:creationId xmlns:a16="http://schemas.microsoft.com/office/drawing/2014/main" id="{B304E3A3-C4D5-8C0A-C3B4-6195E68521E9}"/>
              </a:ext>
            </a:extLst>
          </p:cNvPr>
          <p:cNvSpPr/>
          <p:nvPr/>
        </p:nvSpPr>
        <p:spPr>
          <a:xfrm>
            <a:off x="4907280" y="4998053"/>
            <a:ext cx="2377440" cy="0"/>
          </a:xfrm>
          <a:prstGeom prst="line">
            <a:avLst/>
          </a:prstGeom>
          <a:noFill/>
          <a:ln w="12700">
            <a:solidFill>
              <a:srgbClr val="3A3D45"/>
            </a:solidFill>
            <a:prstDash val="solid"/>
          </a:ln>
        </p:spPr>
        <p:txBody>
          <a:bodyPr/>
          <a:lstStyle/>
          <a:p>
            <a:endParaRPr lang="en-US"/>
          </a:p>
        </p:txBody>
      </p:sp>
      <p:sp>
        <p:nvSpPr>
          <p:cNvPr id="66" name="Shape 2">
            <a:extLst>
              <a:ext uri="{FF2B5EF4-FFF2-40B4-BE49-F238E27FC236}">
                <a16:creationId xmlns:a16="http://schemas.microsoft.com/office/drawing/2014/main" id="{11B19724-B0DE-73C2-8605-BFE55619823D}"/>
              </a:ext>
            </a:extLst>
          </p:cNvPr>
          <p:cNvSpPr/>
          <p:nvPr/>
        </p:nvSpPr>
        <p:spPr>
          <a:xfrm>
            <a:off x="9136027" y="4152959"/>
            <a:ext cx="2377440" cy="0"/>
          </a:xfrm>
          <a:prstGeom prst="line">
            <a:avLst/>
          </a:prstGeom>
          <a:noFill/>
          <a:ln w="12700">
            <a:solidFill>
              <a:srgbClr val="3A3D45"/>
            </a:solidFill>
            <a:prstDash val="solid"/>
          </a:ln>
        </p:spPr>
        <p:txBody>
          <a:bodyPr/>
          <a:lstStyle/>
          <a:p>
            <a:endParaRPr lang="en-US"/>
          </a:p>
        </p:txBody>
      </p:sp>
      <p:sp>
        <p:nvSpPr>
          <p:cNvPr id="67" name="Shape 2">
            <a:extLst>
              <a:ext uri="{FF2B5EF4-FFF2-40B4-BE49-F238E27FC236}">
                <a16:creationId xmlns:a16="http://schemas.microsoft.com/office/drawing/2014/main" id="{C3BD7AAF-1A07-5B33-93EF-E912F401A412}"/>
              </a:ext>
            </a:extLst>
          </p:cNvPr>
          <p:cNvSpPr/>
          <p:nvPr/>
        </p:nvSpPr>
        <p:spPr>
          <a:xfrm>
            <a:off x="9136027" y="5015892"/>
            <a:ext cx="2377440" cy="0"/>
          </a:xfrm>
          <a:prstGeom prst="line">
            <a:avLst/>
          </a:prstGeom>
          <a:noFill/>
          <a:ln w="12700">
            <a:solidFill>
              <a:srgbClr val="3A3D45"/>
            </a:solidFill>
            <a:prstDash val="solid"/>
          </a:ln>
        </p:spPr>
        <p:txBody>
          <a:bodyPr/>
          <a:lstStyle/>
          <a:p>
            <a:endParaRPr lang="en-US"/>
          </a:p>
        </p:txBody>
      </p:sp>
      <p:sp>
        <p:nvSpPr>
          <p:cNvPr id="69" name="Text 19">
            <a:extLst>
              <a:ext uri="{FF2B5EF4-FFF2-40B4-BE49-F238E27FC236}">
                <a16:creationId xmlns:a16="http://schemas.microsoft.com/office/drawing/2014/main" id="{530214E5-2B4C-0590-3335-2AC11771C91E}"/>
              </a:ext>
            </a:extLst>
          </p:cNvPr>
          <p:cNvSpPr txBox="1"/>
          <p:nvPr/>
        </p:nvSpPr>
        <p:spPr>
          <a:xfrm>
            <a:off x="457200" y="6492240"/>
            <a:ext cx="6400800" cy="274320"/>
          </a:xfrm>
          <a:prstGeom prst="rect">
            <a:avLst/>
          </a:prstGeom>
          <a:noFill/>
          <a:ln/>
        </p:spPr>
        <p:txBody>
          <a:bodyPr wrap="square" lIns="0" tIns="0" rIns="0" bIns="0" rtlCol="0" anchor="ctr"/>
          <a:lstStyle/>
          <a:p>
            <a:pPr marL="0" indent="0">
              <a:buNone/>
            </a:pPr>
            <a:r>
              <a:rPr lang="en-US" sz="900" dirty="0">
                <a:solidFill>
                  <a:schemeClr val="bg1">
                    <a:lumMod val="85000"/>
                  </a:schemeClr>
                </a:solidFill>
                <a:latin typeface="Calibri" pitchFamily="34" charset="0"/>
                <a:ea typeface="Calibri" pitchFamily="34" charset="-122"/>
                <a:cs typeface="Calibri" pitchFamily="34" charset="-120"/>
              </a:rPr>
              <a:t>GEOFLEX WORKFORCE SOLUTIONS  |  HR ANALYTICS PROJECT</a:t>
            </a:r>
            <a:endParaRPr lang="en-US" sz="900" dirty="0">
              <a:solidFill>
                <a:schemeClr val="bg1">
                  <a:lumMod val="85000"/>
                </a:schemeClr>
              </a:solidFill>
            </a:endParaRPr>
          </a:p>
        </p:txBody>
      </p:sp>
      <p:sp>
        <p:nvSpPr>
          <p:cNvPr id="70" name="Text 10">
            <a:extLst>
              <a:ext uri="{FF2B5EF4-FFF2-40B4-BE49-F238E27FC236}">
                <a16:creationId xmlns:a16="http://schemas.microsoft.com/office/drawing/2014/main" id="{2D2E3843-C2A6-8185-A6C5-D730E01CD535}"/>
              </a:ext>
            </a:extLst>
          </p:cNvPr>
          <p:cNvSpPr txBox="1"/>
          <p:nvPr/>
        </p:nvSpPr>
        <p:spPr>
          <a:xfrm>
            <a:off x="697440" y="5505055"/>
            <a:ext cx="3082979" cy="685800"/>
          </a:xfrm>
          <a:prstGeom prst="rect">
            <a:avLst/>
          </a:prstGeom>
          <a:noFill/>
          <a:ln/>
        </p:spPr>
        <p:txBody>
          <a:bodyPr wrap="square" lIns="0" tIns="0" rIns="0" bIns="0" rtlCol="0" anchor="ctr"/>
          <a:lstStyle/>
          <a:p>
            <a:r>
              <a:rPr lang="en-US" sz="1200" dirty="0"/>
              <a:t>The recruitment status field cannot reliably represent the hiring funnel because it combines stages and outcomes in one field.</a:t>
            </a:r>
          </a:p>
        </p:txBody>
      </p:sp>
      <p:sp>
        <p:nvSpPr>
          <p:cNvPr id="71" name="Shape 3">
            <a:extLst>
              <a:ext uri="{FF2B5EF4-FFF2-40B4-BE49-F238E27FC236}">
                <a16:creationId xmlns:a16="http://schemas.microsoft.com/office/drawing/2014/main" id="{15437436-C032-6CE0-9E71-55571949F667}"/>
              </a:ext>
            </a:extLst>
          </p:cNvPr>
          <p:cNvSpPr/>
          <p:nvPr/>
        </p:nvSpPr>
        <p:spPr>
          <a:xfrm>
            <a:off x="545516" y="2719325"/>
            <a:ext cx="82296" cy="82296"/>
          </a:xfrm>
          <a:prstGeom prst="ellipse">
            <a:avLst/>
          </a:prstGeom>
          <a:solidFill>
            <a:srgbClr val="002060"/>
          </a:solidFill>
          <a:ln/>
        </p:spPr>
        <p:txBody>
          <a:bodyPr/>
          <a:lstStyle/>
          <a:p>
            <a:endParaRPr lang="en-US"/>
          </a:p>
        </p:txBody>
      </p:sp>
    </p:spTree>
    <p:extLst>
      <p:ext uri="{BB962C8B-B14F-4D97-AF65-F5344CB8AC3E}">
        <p14:creationId xmlns:p14="http://schemas.microsoft.com/office/powerpoint/2010/main" val="10223330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8"/>
        </a:solidFill>
        <a:effectLst/>
      </p:bgPr>
    </p:bg>
    <p:spTree>
      <p:nvGrpSpPr>
        <p:cNvPr id="1" name=""/>
        <p:cNvGrpSpPr/>
        <p:nvPr/>
      </p:nvGrpSpPr>
      <p:grpSpPr>
        <a:xfrm>
          <a:off x="0" y="0"/>
          <a:ext cx="0" cy="0"/>
          <a:chOff x="0" y="0"/>
          <a:chExt cx="0" cy="0"/>
        </a:xfrm>
      </p:grpSpPr>
      <p:sp>
        <p:nvSpPr>
          <p:cNvPr id="17" name="Text 0">
            <a:extLst>
              <a:ext uri="{FF2B5EF4-FFF2-40B4-BE49-F238E27FC236}">
                <a16:creationId xmlns:a16="http://schemas.microsoft.com/office/drawing/2014/main" id="{221F74D2-ABDC-03A4-28C9-9869340383E6}"/>
              </a:ext>
            </a:extLst>
          </p:cNvPr>
          <p:cNvSpPr txBox="1"/>
          <p:nvPr/>
        </p:nvSpPr>
        <p:spPr>
          <a:xfrm>
            <a:off x="548640" y="384048"/>
            <a:ext cx="100584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E X E C U T I V E   S U M M A R Y</a:t>
            </a:r>
            <a:endParaRPr lang="en-US" sz="1200" dirty="0"/>
          </a:p>
        </p:txBody>
      </p:sp>
      <p:sp>
        <p:nvSpPr>
          <p:cNvPr id="19" name="Text 1">
            <a:extLst>
              <a:ext uri="{FF2B5EF4-FFF2-40B4-BE49-F238E27FC236}">
                <a16:creationId xmlns:a16="http://schemas.microsoft.com/office/drawing/2014/main" id="{D1E8E111-B228-FF42-11DF-88CB4652802F}"/>
              </a:ext>
            </a:extLst>
          </p:cNvPr>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000" b="1" dirty="0">
                <a:solidFill>
                  <a:srgbClr val="1F2430"/>
                </a:solidFill>
                <a:latin typeface="Cambria" pitchFamily="34" charset="0"/>
                <a:ea typeface="Cambria" pitchFamily="34" charset="-122"/>
                <a:cs typeface="Cambria" pitchFamily="34" charset="-120"/>
              </a:rPr>
              <a:t>Bottom Line Up Front</a:t>
            </a:r>
            <a:endParaRPr lang="en-US" sz="3000" dirty="0"/>
          </a:p>
        </p:txBody>
      </p:sp>
      <p:sp>
        <p:nvSpPr>
          <p:cNvPr id="21" name="Shape 2">
            <a:extLst>
              <a:ext uri="{FF2B5EF4-FFF2-40B4-BE49-F238E27FC236}">
                <a16:creationId xmlns:a16="http://schemas.microsoft.com/office/drawing/2014/main" id="{3FE2E107-836A-69A2-9FBC-EAEFFE5A1EFA}"/>
              </a:ext>
            </a:extLst>
          </p:cNvPr>
          <p:cNvSpPr/>
          <p:nvPr/>
        </p:nvSpPr>
        <p:spPr>
          <a:xfrm>
            <a:off x="548640" y="1417320"/>
            <a:ext cx="11064240" cy="1051560"/>
          </a:xfrm>
          <a:prstGeom prst="roundRect">
            <a:avLst>
              <a:gd name="adj" fmla="val 6957"/>
            </a:avLst>
          </a:prstGeom>
          <a:solidFill>
            <a:srgbClr val="1E2761"/>
          </a:solidFill>
          <a:ln/>
        </p:spPr>
        <p:txBody>
          <a:bodyPr/>
          <a:lstStyle/>
          <a:p>
            <a:endParaRPr lang="en-US"/>
          </a:p>
        </p:txBody>
      </p:sp>
      <p:sp>
        <p:nvSpPr>
          <p:cNvPr id="23" name="Text 3">
            <a:extLst>
              <a:ext uri="{FF2B5EF4-FFF2-40B4-BE49-F238E27FC236}">
                <a16:creationId xmlns:a16="http://schemas.microsoft.com/office/drawing/2014/main" id="{C4F19296-C777-3DB7-CD42-80ECE4DA8615}"/>
              </a:ext>
            </a:extLst>
          </p:cNvPr>
          <p:cNvSpPr txBox="1"/>
          <p:nvPr/>
        </p:nvSpPr>
        <p:spPr>
          <a:xfrm>
            <a:off x="579120" y="1388974"/>
            <a:ext cx="11015472" cy="1025042"/>
          </a:xfrm>
          <a:prstGeom prst="rect">
            <a:avLst/>
          </a:prstGeom>
          <a:noFill/>
          <a:ln/>
        </p:spPr>
        <p:txBody>
          <a:bodyPr wrap="square" lIns="0" tIns="0" rIns="0" bIns="0" rtlCol="0" anchor="ctr"/>
          <a:lstStyle/>
          <a:p>
            <a:r>
              <a:rPr lang="en-US" sz="1600" dirty="0">
                <a:solidFill>
                  <a:schemeClr val="bg1"/>
                </a:solidFill>
              </a:rPr>
              <a:t>Geoflex has a 2,500-person workforce that is growing and diverse. However, the 14.5% overall attrition rate does not tell the full story. Most employee exits are concentrated in a few departments and branches, with the highest risk occurring during employees’ first year.</a:t>
            </a:r>
          </a:p>
        </p:txBody>
      </p:sp>
      <p:sp>
        <p:nvSpPr>
          <p:cNvPr id="25" name="Shape 4">
            <a:extLst>
              <a:ext uri="{FF2B5EF4-FFF2-40B4-BE49-F238E27FC236}">
                <a16:creationId xmlns:a16="http://schemas.microsoft.com/office/drawing/2014/main" id="{313C4557-307F-CAB3-541D-B4815AE11D4D}"/>
              </a:ext>
            </a:extLst>
          </p:cNvPr>
          <p:cNvSpPr/>
          <p:nvPr/>
        </p:nvSpPr>
        <p:spPr>
          <a:xfrm>
            <a:off x="548640" y="2697480"/>
            <a:ext cx="2624328" cy="1417320"/>
          </a:xfrm>
          <a:prstGeom prst="roundRect">
            <a:avLst>
              <a:gd name="adj" fmla="val 5161"/>
            </a:avLst>
          </a:prstGeom>
          <a:solidFill>
            <a:srgbClr val="FFFFFF"/>
          </a:solidFill>
          <a:ln w="12700">
            <a:solidFill>
              <a:srgbClr val="CADCFC"/>
            </a:solidFill>
            <a:prstDash val="solid"/>
          </a:ln>
          <a:effectLst>
            <a:outerShdw blurRad="76200" dist="25400" dir="5400000" algn="bl" rotWithShape="0">
              <a:srgbClr val="8C97B8">
                <a:alpha val="25000"/>
              </a:srgbClr>
            </a:outerShdw>
          </a:effectLst>
        </p:spPr>
        <p:txBody>
          <a:bodyPr/>
          <a:lstStyle/>
          <a:p>
            <a:endParaRPr lang="en-US"/>
          </a:p>
        </p:txBody>
      </p:sp>
      <p:sp>
        <p:nvSpPr>
          <p:cNvPr id="27" name="Text 5">
            <a:extLst>
              <a:ext uri="{FF2B5EF4-FFF2-40B4-BE49-F238E27FC236}">
                <a16:creationId xmlns:a16="http://schemas.microsoft.com/office/drawing/2014/main" id="{14F732DE-31D9-FDBC-B8D1-34C09AD0DE66}"/>
              </a:ext>
            </a:extLst>
          </p:cNvPr>
          <p:cNvSpPr txBox="1"/>
          <p:nvPr/>
        </p:nvSpPr>
        <p:spPr>
          <a:xfrm>
            <a:off x="685800" y="2687574"/>
            <a:ext cx="2350008" cy="779526"/>
          </a:xfrm>
          <a:prstGeom prst="rect">
            <a:avLst/>
          </a:prstGeom>
          <a:noFill/>
          <a:ln/>
        </p:spPr>
        <p:txBody>
          <a:bodyPr wrap="square" lIns="0" tIns="0" rIns="0" bIns="0" rtlCol="0" anchor="b"/>
          <a:lstStyle/>
          <a:p>
            <a:pPr marL="0" indent="0" algn="l">
              <a:buNone/>
            </a:pPr>
            <a:r>
              <a:rPr lang="en-US" sz="3000" b="1" dirty="0">
                <a:solidFill>
                  <a:srgbClr val="C0392B"/>
                </a:solidFill>
                <a:latin typeface="Cambria" pitchFamily="34" charset="0"/>
                <a:ea typeface="Cambria" pitchFamily="34" charset="-122"/>
                <a:cs typeface="Cambria" pitchFamily="34" charset="-120"/>
              </a:rPr>
              <a:t>14.5%</a:t>
            </a:r>
            <a:endParaRPr lang="en-US" sz="3000" dirty="0"/>
          </a:p>
        </p:txBody>
      </p:sp>
      <p:sp>
        <p:nvSpPr>
          <p:cNvPr id="29" name="Text 6">
            <a:extLst>
              <a:ext uri="{FF2B5EF4-FFF2-40B4-BE49-F238E27FC236}">
                <a16:creationId xmlns:a16="http://schemas.microsoft.com/office/drawing/2014/main" id="{D5A3A3A6-9D36-BC36-FC72-BD4D2AA2558D}"/>
              </a:ext>
            </a:extLst>
          </p:cNvPr>
          <p:cNvSpPr txBox="1"/>
          <p:nvPr/>
        </p:nvSpPr>
        <p:spPr>
          <a:xfrm>
            <a:off x="685800" y="3426408"/>
            <a:ext cx="2350008" cy="680771"/>
          </a:xfrm>
          <a:prstGeom prst="rect">
            <a:avLst/>
          </a:prstGeom>
          <a:noFill/>
          <a:ln/>
        </p:spPr>
        <p:txBody>
          <a:bodyPr wrap="square" lIns="0" tIns="0" rIns="0" bIns="0" rtlCol="0" anchor="t"/>
          <a:lstStyle/>
          <a:p>
            <a:r>
              <a:rPr lang="en-US" sz="1100" b="1" dirty="0">
                <a:solidFill>
                  <a:schemeClr val="tx1">
                    <a:lumMod val="50000"/>
                    <a:lumOff val="50000"/>
                  </a:schemeClr>
                </a:solidFill>
              </a:rPr>
              <a:t>Attrition varies significantly by branch, ranging from 7.4% in Ilorin to 23.1% in Busia.</a:t>
            </a:r>
            <a:endParaRPr lang="en-US" sz="1100" dirty="0">
              <a:solidFill>
                <a:schemeClr val="tx1">
                  <a:lumMod val="50000"/>
                  <a:lumOff val="50000"/>
                </a:schemeClr>
              </a:solidFill>
            </a:endParaRPr>
          </a:p>
        </p:txBody>
      </p:sp>
      <p:sp>
        <p:nvSpPr>
          <p:cNvPr id="31" name="Shape 7">
            <a:extLst>
              <a:ext uri="{FF2B5EF4-FFF2-40B4-BE49-F238E27FC236}">
                <a16:creationId xmlns:a16="http://schemas.microsoft.com/office/drawing/2014/main" id="{18621EB1-5C80-2D4C-B21B-B44DFC819553}"/>
              </a:ext>
            </a:extLst>
          </p:cNvPr>
          <p:cNvSpPr/>
          <p:nvPr/>
        </p:nvSpPr>
        <p:spPr>
          <a:xfrm>
            <a:off x="3355848" y="2697480"/>
            <a:ext cx="2624328" cy="1417320"/>
          </a:xfrm>
          <a:prstGeom prst="roundRect">
            <a:avLst>
              <a:gd name="adj" fmla="val 5161"/>
            </a:avLst>
          </a:prstGeom>
          <a:solidFill>
            <a:srgbClr val="FFFFFF"/>
          </a:solidFill>
          <a:ln w="12700">
            <a:solidFill>
              <a:srgbClr val="CADCFC"/>
            </a:solidFill>
            <a:prstDash val="solid"/>
          </a:ln>
          <a:effectLst>
            <a:outerShdw blurRad="76200" dist="25400" dir="5400000" algn="bl" rotWithShape="0">
              <a:srgbClr val="8C97B8">
                <a:alpha val="25000"/>
              </a:srgbClr>
            </a:outerShdw>
          </a:effectLst>
        </p:spPr>
        <p:txBody>
          <a:bodyPr/>
          <a:lstStyle/>
          <a:p>
            <a:endParaRPr lang="en-US"/>
          </a:p>
        </p:txBody>
      </p:sp>
      <p:sp>
        <p:nvSpPr>
          <p:cNvPr id="33" name="Text 8">
            <a:extLst>
              <a:ext uri="{FF2B5EF4-FFF2-40B4-BE49-F238E27FC236}">
                <a16:creationId xmlns:a16="http://schemas.microsoft.com/office/drawing/2014/main" id="{48821BDC-BF76-00AB-3EB6-15679FF34D24}"/>
              </a:ext>
            </a:extLst>
          </p:cNvPr>
          <p:cNvSpPr txBox="1"/>
          <p:nvPr/>
        </p:nvSpPr>
        <p:spPr>
          <a:xfrm>
            <a:off x="3493008" y="2687574"/>
            <a:ext cx="2350008" cy="779526"/>
          </a:xfrm>
          <a:prstGeom prst="rect">
            <a:avLst/>
          </a:prstGeom>
          <a:noFill/>
          <a:ln/>
        </p:spPr>
        <p:txBody>
          <a:bodyPr wrap="square" lIns="0" tIns="0" rIns="0" bIns="0" rtlCol="0" anchor="b"/>
          <a:lstStyle/>
          <a:p>
            <a:pPr marL="0" indent="0" algn="l">
              <a:buNone/>
            </a:pPr>
            <a:r>
              <a:rPr lang="en-US" sz="3000" b="1" dirty="0">
                <a:solidFill>
                  <a:srgbClr val="C0392B"/>
                </a:solidFill>
                <a:latin typeface="Cambria" pitchFamily="34" charset="0"/>
                <a:ea typeface="Cambria" pitchFamily="34" charset="-122"/>
                <a:cs typeface="Cambria" pitchFamily="34" charset="-120"/>
              </a:rPr>
              <a:t>68%</a:t>
            </a:r>
            <a:endParaRPr lang="en-US" sz="3000" dirty="0"/>
          </a:p>
        </p:txBody>
      </p:sp>
      <p:sp>
        <p:nvSpPr>
          <p:cNvPr id="35" name="Text 9">
            <a:extLst>
              <a:ext uri="{FF2B5EF4-FFF2-40B4-BE49-F238E27FC236}">
                <a16:creationId xmlns:a16="http://schemas.microsoft.com/office/drawing/2014/main" id="{51D87903-4EE4-D749-45BD-8DE8DD0222B1}"/>
              </a:ext>
            </a:extLst>
          </p:cNvPr>
          <p:cNvSpPr txBox="1"/>
          <p:nvPr/>
        </p:nvSpPr>
        <p:spPr>
          <a:xfrm>
            <a:off x="3493008" y="3426408"/>
            <a:ext cx="2350008" cy="680771"/>
          </a:xfrm>
          <a:prstGeom prst="rect">
            <a:avLst/>
          </a:prstGeom>
          <a:noFill/>
          <a:ln/>
        </p:spPr>
        <p:txBody>
          <a:bodyPr wrap="square" lIns="0" tIns="0" rIns="0" bIns="0" rtlCol="0" anchor="t"/>
          <a:lstStyle/>
          <a:p>
            <a:r>
              <a:rPr lang="en-US" sz="1100" b="1" dirty="0">
                <a:solidFill>
                  <a:schemeClr val="tx1">
                    <a:lumMod val="50000"/>
                    <a:lumOff val="50000"/>
                  </a:schemeClr>
                </a:solidFill>
              </a:rPr>
              <a:t>A significant share of recorded exits occurred within employees’ first year, while some records were flagged for invalid tenure data.</a:t>
            </a:r>
          </a:p>
        </p:txBody>
      </p:sp>
      <p:sp>
        <p:nvSpPr>
          <p:cNvPr id="37" name="Shape 10">
            <a:extLst>
              <a:ext uri="{FF2B5EF4-FFF2-40B4-BE49-F238E27FC236}">
                <a16:creationId xmlns:a16="http://schemas.microsoft.com/office/drawing/2014/main" id="{B18E41C5-996C-C625-F286-088DA566F8AB}"/>
              </a:ext>
            </a:extLst>
          </p:cNvPr>
          <p:cNvSpPr/>
          <p:nvPr/>
        </p:nvSpPr>
        <p:spPr>
          <a:xfrm>
            <a:off x="6163056" y="2697480"/>
            <a:ext cx="2624328" cy="1417320"/>
          </a:xfrm>
          <a:prstGeom prst="roundRect">
            <a:avLst>
              <a:gd name="adj" fmla="val 5161"/>
            </a:avLst>
          </a:prstGeom>
          <a:solidFill>
            <a:srgbClr val="FFFFFF"/>
          </a:solidFill>
          <a:ln w="12700">
            <a:solidFill>
              <a:srgbClr val="CADCFC"/>
            </a:solidFill>
            <a:prstDash val="solid"/>
          </a:ln>
          <a:effectLst>
            <a:outerShdw blurRad="76200" dist="25400" dir="5400000" algn="bl" rotWithShape="0">
              <a:srgbClr val="8C97B8">
                <a:alpha val="25000"/>
              </a:srgbClr>
            </a:outerShdw>
          </a:effectLst>
        </p:spPr>
        <p:txBody>
          <a:bodyPr/>
          <a:lstStyle/>
          <a:p>
            <a:endParaRPr lang="en-US"/>
          </a:p>
        </p:txBody>
      </p:sp>
      <p:sp>
        <p:nvSpPr>
          <p:cNvPr id="39" name="Text 11">
            <a:extLst>
              <a:ext uri="{FF2B5EF4-FFF2-40B4-BE49-F238E27FC236}">
                <a16:creationId xmlns:a16="http://schemas.microsoft.com/office/drawing/2014/main" id="{E13198C6-66BC-9E55-FFDC-7AD26527ABF9}"/>
              </a:ext>
            </a:extLst>
          </p:cNvPr>
          <p:cNvSpPr txBox="1"/>
          <p:nvPr/>
        </p:nvSpPr>
        <p:spPr>
          <a:xfrm>
            <a:off x="6300216" y="2687574"/>
            <a:ext cx="2350008" cy="779526"/>
          </a:xfrm>
          <a:prstGeom prst="rect">
            <a:avLst/>
          </a:prstGeom>
          <a:noFill/>
          <a:ln/>
        </p:spPr>
        <p:txBody>
          <a:bodyPr wrap="square" lIns="0" tIns="0" rIns="0" bIns="0" rtlCol="0" anchor="b"/>
          <a:lstStyle/>
          <a:p>
            <a:pPr marL="0" indent="0" algn="l">
              <a:buNone/>
            </a:pPr>
            <a:r>
              <a:rPr lang="en-US" sz="3000" b="1" dirty="0">
                <a:solidFill>
                  <a:srgbClr val="1E2761"/>
                </a:solidFill>
                <a:latin typeface="Cambria" pitchFamily="34" charset="0"/>
                <a:ea typeface="Cambria" pitchFamily="34" charset="-122"/>
                <a:cs typeface="Cambria" pitchFamily="34" charset="-120"/>
              </a:rPr>
              <a:t>28.0%</a:t>
            </a:r>
            <a:endParaRPr lang="en-US" sz="3000" dirty="0"/>
          </a:p>
        </p:txBody>
      </p:sp>
      <p:sp>
        <p:nvSpPr>
          <p:cNvPr id="41" name="Text 12">
            <a:extLst>
              <a:ext uri="{FF2B5EF4-FFF2-40B4-BE49-F238E27FC236}">
                <a16:creationId xmlns:a16="http://schemas.microsoft.com/office/drawing/2014/main" id="{19FCA7CA-0D66-AB61-BE49-6C362AD49DC1}"/>
              </a:ext>
            </a:extLst>
          </p:cNvPr>
          <p:cNvSpPr txBox="1"/>
          <p:nvPr/>
        </p:nvSpPr>
        <p:spPr>
          <a:xfrm>
            <a:off x="6300216" y="3426408"/>
            <a:ext cx="2350008" cy="680771"/>
          </a:xfrm>
          <a:prstGeom prst="rect">
            <a:avLst/>
          </a:prstGeom>
          <a:noFill/>
          <a:ln/>
        </p:spPr>
        <p:txBody>
          <a:bodyPr wrap="square" lIns="0" tIns="0" rIns="0" bIns="0" rtlCol="0" anchor="t"/>
          <a:lstStyle/>
          <a:p>
            <a:r>
              <a:rPr lang="en-US" sz="1100" b="1" dirty="0">
                <a:solidFill>
                  <a:schemeClr val="tx1">
                    <a:lumMod val="50000"/>
                    <a:lumOff val="50000"/>
                  </a:schemeClr>
                </a:solidFill>
              </a:rPr>
              <a:t>Walk-In/organic channels generated more hires than Indeed, which accounted for just 12.5%.</a:t>
            </a:r>
            <a:endParaRPr lang="en-US" sz="1100" dirty="0">
              <a:solidFill>
                <a:schemeClr val="tx1">
                  <a:lumMod val="50000"/>
                  <a:lumOff val="50000"/>
                </a:schemeClr>
              </a:solidFill>
            </a:endParaRPr>
          </a:p>
        </p:txBody>
      </p:sp>
      <p:sp>
        <p:nvSpPr>
          <p:cNvPr id="43" name="Shape 13">
            <a:extLst>
              <a:ext uri="{FF2B5EF4-FFF2-40B4-BE49-F238E27FC236}">
                <a16:creationId xmlns:a16="http://schemas.microsoft.com/office/drawing/2014/main" id="{55B9D221-108C-ADCB-B878-0077869ECAE9}"/>
              </a:ext>
            </a:extLst>
          </p:cNvPr>
          <p:cNvSpPr/>
          <p:nvPr/>
        </p:nvSpPr>
        <p:spPr>
          <a:xfrm>
            <a:off x="8970264" y="2697480"/>
            <a:ext cx="2624328" cy="1417320"/>
          </a:xfrm>
          <a:prstGeom prst="roundRect">
            <a:avLst>
              <a:gd name="adj" fmla="val 5161"/>
            </a:avLst>
          </a:prstGeom>
          <a:solidFill>
            <a:srgbClr val="FFFFFF"/>
          </a:solidFill>
          <a:ln w="12700">
            <a:solidFill>
              <a:srgbClr val="CADCFC"/>
            </a:solidFill>
            <a:prstDash val="solid"/>
          </a:ln>
          <a:effectLst>
            <a:outerShdw blurRad="76200" dist="25400" dir="5400000" algn="bl" rotWithShape="0">
              <a:srgbClr val="8C97B8">
                <a:alpha val="25000"/>
              </a:srgbClr>
            </a:outerShdw>
          </a:effectLst>
        </p:spPr>
        <p:txBody>
          <a:bodyPr/>
          <a:lstStyle/>
          <a:p>
            <a:endParaRPr lang="en-US"/>
          </a:p>
        </p:txBody>
      </p:sp>
      <p:sp>
        <p:nvSpPr>
          <p:cNvPr id="45" name="Text 14">
            <a:extLst>
              <a:ext uri="{FF2B5EF4-FFF2-40B4-BE49-F238E27FC236}">
                <a16:creationId xmlns:a16="http://schemas.microsoft.com/office/drawing/2014/main" id="{F62E2E7E-287A-9B92-1E41-FC98A579C668}"/>
              </a:ext>
            </a:extLst>
          </p:cNvPr>
          <p:cNvSpPr txBox="1"/>
          <p:nvPr/>
        </p:nvSpPr>
        <p:spPr>
          <a:xfrm>
            <a:off x="9107424" y="2687574"/>
            <a:ext cx="2350008" cy="779526"/>
          </a:xfrm>
          <a:prstGeom prst="rect">
            <a:avLst/>
          </a:prstGeom>
          <a:noFill/>
          <a:ln/>
        </p:spPr>
        <p:txBody>
          <a:bodyPr wrap="square" lIns="0" tIns="0" rIns="0" bIns="0" rtlCol="0" anchor="b"/>
          <a:lstStyle/>
          <a:p>
            <a:pPr marL="0" indent="0" algn="l">
              <a:buNone/>
            </a:pPr>
            <a:r>
              <a:rPr lang="en-US" sz="3000" b="1" dirty="0">
                <a:solidFill>
                  <a:srgbClr val="2C7A55"/>
                </a:solidFill>
                <a:latin typeface="Cambria" pitchFamily="34" charset="0"/>
                <a:ea typeface="Cambria" pitchFamily="34" charset="-122"/>
                <a:cs typeface="Cambria" pitchFamily="34" charset="-120"/>
              </a:rPr>
              <a:t>1,053</a:t>
            </a:r>
            <a:endParaRPr lang="en-US" sz="3000" dirty="0"/>
          </a:p>
        </p:txBody>
      </p:sp>
      <p:sp>
        <p:nvSpPr>
          <p:cNvPr id="47" name="Text 15">
            <a:extLst>
              <a:ext uri="{FF2B5EF4-FFF2-40B4-BE49-F238E27FC236}">
                <a16:creationId xmlns:a16="http://schemas.microsoft.com/office/drawing/2014/main" id="{FF7709A7-4A99-C802-4EB4-A521C819E8EE}"/>
              </a:ext>
            </a:extLst>
          </p:cNvPr>
          <p:cNvSpPr txBox="1"/>
          <p:nvPr/>
        </p:nvSpPr>
        <p:spPr>
          <a:xfrm>
            <a:off x="9107424" y="3426408"/>
            <a:ext cx="2350008" cy="680771"/>
          </a:xfrm>
          <a:prstGeom prst="rect">
            <a:avLst/>
          </a:prstGeom>
          <a:noFill/>
          <a:ln/>
        </p:spPr>
        <p:txBody>
          <a:bodyPr wrap="square" lIns="0" tIns="0" rIns="0" bIns="0" rtlCol="0" anchor="t"/>
          <a:lstStyle/>
          <a:p>
            <a:pPr marL="0" indent="0" algn="l">
              <a:buNone/>
            </a:pPr>
            <a:r>
              <a:rPr lang="en-US" sz="1100" dirty="0">
                <a:solidFill>
                  <a:srgbClr val="5B6472"/>
                </a:solidFill>
                <a:latin typeface="Calibri" pitchFamily="34" charset="0"/>
                <a:ea typeface="Calibri" pitchFamily="34" charset="-122"/>
                <a:cs typeface="Calibri" pitchFamily="34" charset="-120"/>
              </a:rPr>
              <a:t>Duplicate records removed across 8 source tables before any analysis began</a:t>
            </a:r>
            <a:endParaRPr lang="en-US" sz="1100" dirty="0"/>
          </a:p>
        </p:txBody>
      </p:sp>
      <p:sp>
        <p:nvSpPr>
          <p:cNvPr id="49" name="Shape 16">
            <a:extLst>
              <a:ext uri="{FF2B5EF4-FFF2-40B4-BE49-F238E27FC236}">
                <a16:creationId xmlns:a16="http://schemas.microsoft.com/office/drawing/2014/main" id="{85C6F870-8A30-F22B-070E-B9922140F3B3}"/>
              </a:ext>
            </a:extLst>
          </p:cNvPr>
          <p:cNvSpPr/>
          <p:nvPr/>
        </p:nvSpPr>
        <p:spPr>
          <a:xfrm>
            <a:off x="548640" y="4343400"/>
            <a:ext cx="11064240" cy="1508760"/>
          </a:xfrm>
          <a:prstGeom prst="roundRect">
            <a:avLst>
              <a:gd name="adj" fmla="val 4848"/>
            </a:avLst>
          </a:prstGeom>
          <a:solidFill>
            <a:srgbClr val="FFFFFF"/>
          </a:solidFill>
          <a:ln w="12700">
            <a:solidFill>
              <a:srgbClr val="CADCFC"/>
            </a:solidFill>
            <a:prstDash val="solid"/>
          </a:ln>
        </p:spPr>
        <p:txBody>
          <a:bodyPr/>
          <a:lstStyle/>
          <a:p>
            <a:endParaRPr lang="en-US"/>
          </a:p>
        </p:txBody>
      </p:sp>
      <p:sp>
        <p:nvSpPr>
          <p:cNvPr id="51" name="Text 17">
            <a:extLst>
              <a:ext uri="{FF2B5EF4-FFF2-40B4-BE49-F238E27FC236}">
                <a16:creationId xmlns:a16="http://schemas.microsoft.com/office/drawing/2014/main" id="{EF3EC67F-BF8C-F35D-193D-CAF856C2D8C9}"/>
              </a:ext>
            </a:extLst>
          </p:cNvPr>
          <p:cNvSpPr txBox="1"/>
          <p:nvPr/>
        </p:nvSpPr>
        <p:spPr>
          <a:xfrm>
            <a:off x="685800" y="4511040"/>
            <a:ext cx="10424160" cy="274320"/>
          </a:xfrm>
          <a:prstGeom prst="rect">
            <a:avLst/>
          </a:prstGeom>
          <a:noFill/>
          <a:ln/>
        </p:spPr>
        <p:txBody>
          <a:bodyPr wrap="square" lIns="0" tIns="0" rIns="0" bIns="0" rtlCol="0" anchor="ctr"/>
          <a:lstStyle/>
          <a:p>
            <a:pPr marL="0" indent="0">
              <a:buNone/>
            </a:pPr>
            <a:r>
              <a:rPr lang="en-US" sz="1150" b="1" kern="0" spc="100" dirty="0">
                <a:solidFill>
                  <a:srgbClr val="1E2761"/>
                </a:solidFill>
                <a:latin typeface="Calibri" pitchFamily="34" charset="0"/>
                <a:ea typeface="Calibri" pitchFamily="34" charset="-122"/>
                <a:cs typeface="Calibri" pitchFamily="34" charset="-120"/>
              </a:rPr>
              <a:t>WHAT THIS MEANS FOR LEADERSHIP</a:t>
            </a:r>
            <a:endParaRPr lang="en-US" sz="1150" dirty="0"/>
          </a:p>
        </p:txBody>
      </p:sp>
      <p:sp>
        <p:nvSpPr>
          <p:cNvPr id="53" name="Text 18">
            <a:extLst>
              <a:ext uri="{FF2B5EF4-FFF2-40B4-BE49-F238E27FC236}">
                <a16:creationId xmlns:a16="http://schemas.microsoft.com/office/drawing/2014/main" id="{857C5A82-0ACA-F5B3-A57A-AB02D74F3520}"/>
              </a:ext>
            </a:extLst>
          </p:cNvPr>
          <p:cNvSpPr txBox="1"/>
          <p:nvPr/>
        </p:nvSpPr>
        <p:spPr>
          <a:xfrm>
            <a:off x="685800" y="4791456"/>
            <a:ext cx="10908792" cy="1005840"/>
          </a:xfrm>
          <a:prstGeom prst="rect">
            <a:avLst/>
          </a:prstGeom>
          <a:noFill/>
          <a:ln/>
        </p:spPr>
        <p:txBody>
          <a:bodyPr wrap="square" lIns="0" tIns="0" rIns="0" bIns="0" rtlCol="0" anchor="t"/>
          <a:lstStyle/>
          <a:p>
            <a:r>
              <a:rPr lang="en-US" sz="1500" dirty="0">
                <a:solidFill>
                  <a:schemeClr val="tx1">
                    <a:lumMod val="75000"/>
                    <a:lumOff val="25000"/>
                  </a:schemeClr>
                </a:solidFill>
              </a:rPr>
              <a:t>Leadership should focus retention efforts on the areas experiencing the most employee exits, particularly Customer Service, Administration, Busia and Lokoja branches, and employees in their first year, rather than using the same approach across the entire company.</a:t>
            </a:r>
            <a:br>
              <a:rPr lang="en-US" sz="1500" dirty="0">
                <a:solidFill>
                  <a:schemeClr val="tx1">
                    <a:lumMod val="75000"/>
                    <a:lumOff val="25000"/>
                  </a:schemeClr>
                </a:solidFill>
              </a:rPr>
            </a:br>
            <a:r>
              <a:rPr lang="en-US" sz="1500" dirty="0">
                <a:solidFill>
                  <a:schemeClr val="tx1">
                    <a:lumMod val="75000"/>
                    <a:lumOff val="25000"/>
                  </a:schemeClr>
                </a:solidFill>
              </a:rPr>
              <a:t>While also fixing data-quality issues such as duplicate records, inconsistent status fields, and currency differences that may affect the accuracy of these findings.</a:t>
            </a:r>
          </a:p>
        </p:txBody>
      </p:sp>
      <p:sp>
        <p:nvSpPr>
          <p:cNvPr id="55" name="Text 19">
            <a:extLst>
              <a:ext uri="{FF2B5EF4-FFF2-40B4-BE49-F238E27FC236}">
                <a16:creationId xmlns:a16="http://schemas.microsoft.com/office/drawing/2014/main" id="{17D3EAED-288A-8E63-CBC0-409D045352E6}"/>
              </a:ext>
            </a:extLst>
          </p:cNvPr>
          <p:cNvSpPr txBox="1"/>
          <p:nvPr/>
        </p:nvSpPr>
        <p:spPr>
          <a:xfrm>
            <a:off x="457200" y="6492240"/>
            <a:ext cx="64008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GEOFLEX WORKFORCE SOLUTIONS  |  HR ANALYTICS PROJECT</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AFAF8"/>
        </a:solidFill>
        <a:effectLst/>
      </p:bgPr>
    </p:bg>
    <p:spTree>
      <p:nvGrpSpPr>
        <p:cNvPr id="1" name=""/>
        <p:cNvGrpSpPr/>
        <p:nvPr/>
      </p:nvGrpSpPr>
      <p:grpSpPr>
        <a:xfrm>
          <a:off x="0" y="0"/>
          <a:ext cx="0" cy="0"/>
          <a:chOff x="0" y="0"/>
          <a:chExt cx="0" cy="0"/>
        </a:xfrm>
      </p:grpSpPr>
      <p:sp>
        <p:nvSpPr>
          <p:cNvPr id="2" name="Text 0"/>
          <p:cNvSpPr txBox="1"/>
          <p:nvPr/>
        </p:nvSpPr>
        <p:spPr>
          <a:xfrm>
            <a:off x="436880" y="109728"/>
            <a:ext cx="9144000" cy="274320"/>
          </a:xfrm>
          <a:prstGeom prst="rect">
            <a:avLst/>
          </a:prstGeom>
          <a:noFill/>
          <a:ln/>
        </p:spPr>
        <p:txBody>
          <a:bodyPr wrap="square" lIns="0" tIns="0" rIns="0" bIns="0" rtlCol="0" anchor="ctr"/>
          <a:lstStyle/>
          <a:p>
            <a:pPr marL="0" indent="0">
              <a:buNone/>
            </a:pPr>
            <a:r>
              <a:rPr lang="en-US" sz="1100" b="1" kern="0" spc="150" dirty="0">
                <a:solidFill>
                  <a:srgbClr val="6B6F76"/>
                </a:solidFill>
                <a:latin typeface="Calibri" pitchFamily="34" charset="0"/>
                <a:ea typeface="Calibri" pitchFamily="34" charset="-122"/>
                <a:cs typeface="Calibri" pitchFamily="34" charset="-120"/>
              </a:rPr>
              <a:t> K E Y   V I S U A L S   - D A T A   M O D E L I N G   S T R U C T U R E</a:t>
            </a:r>
            <a:endParaRPr lang="en-US" sz="1100" dirty="0"/>
          </a:p>
        </p:txBody>
      </p:sp>
      <p:sp>
        <p:nvSpPr>
          <p:cNvPr id="6" name="Text 4"/>
          <p:cNvSpPr txBox="1"/>
          <p:nvPr/>
        </p:nvSpPr>
        <p:spPr>
          <a:xfrm>
            <a:off x="5317236" y="3703320"/>
            <a:ext cx="15544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EmployeeID</a:t>
            </a:r>
            <a:endParaRPr lang="en-US" sz="1400" dirty="0"/>
          </a:p>
        </p:txBody>
      </p:sp>
      <p:pic>
        <p:nvPicPr>
          <p:cNvPr id="35" name="Picture 34">
            <a:extLst>
              <a:ext uri="{FF2B5EF4-FFF2-40B4-BE49-F238E27FC236}">
                <a16:creationId xmlns:a16="http://schemas.microsoft.com/office/drawing/2014/main" id="{689A3349-B3BD-7CEB-1286-60C4D822C143}"/>
              </a:ext>
            </a:extLst>
          </p:cNvPr>
          <p:cNvPicPr>
            <a:picLocks noChangeAspect="1"/>
          </p:cNvPicPr>
          <p:nvPr/>
        </p:nvPicPr>
        <p:blipFill>
          <a:blip r:embed="rId3"/>
          <a:stretch>
            <a:fillRect/>
          </a:stretch>
        </p:blipFill>
        <p:spPr>
          <a:xfrm>
            <a:off x="181356" y="457200"/>
            <a:ext cx="11826240" cy="6016752"/>
          </a:xfrm>
          <a:prstGeom prst="rect">
            <a:avLst/>
          </a:prstGeom>
        </p:spPr>
      </p:pic>
      <p:sp>
        <p:nvSpPr>
          <p:cNvPr id="4" name="Text 19">
            <a:extLst>
              <a:ext uri="{FF2B5EF4-FFF2-40B4-BE49-F238E27FC236}">
                <a16:creationId xmlns:a16="http://schemas.microsoft.com/office/drawing/2014/main" id="{44C6411D-F603-B4DF-B606-52F30F2F1276}"/>
              </a:ext>
            </a:extLst>
          </p:cNvPr>
          <p:cNvSpPr txBox="1"/>
          <p:nvPr/>
        </p:nvSpPr>
        <p:spPr>
          <a:xfrm>
            <a:off x="457200" y="6492240"/>
            <a:ext cx="64008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GEOFLEX WORKFORCE SOLUTIONS  |  HR ANALYTICS PROJECT</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AFAF8"/>
        </a:solidFill>
        <a:effectLst/>
      </p:bgPr>
    </p:bg>
    <p:spTree>
      <p:nvGrpSpPr>
        <p:cNvPr id="1" name=""/>
        <p:cNvGrpSpPr/>
        <p:nvPr/>
      </p:nvGrpSpPr>
      <p:grpSpPr>
        <a:xfrm>
          <a:off x="0" y="0"/>
          <a:ext cx="0" cy="0"/>
          <a:chOff x="0" y="0"/>
          <a:chExt cx="0" cy="0"/>
        </a:xfrm>
      </p:grpSpPr>
      <p:sp>
        <p:nvSpPr>
          <p:cNvPr id="2" name="Text 0"/>
          <p:cNvSpPr txBox="1"/>
          <p:nvPr/>
        </p:nvSpPr>
        <p:spPr>
          <a:xfrm>
            <a:off x="426720" y="109728"/>
            <a:ext cx="9144000" cy="274320"/>
          </a:xfrm>
          <a:prstGeom prst="rect">
            <a:avLst/>
          </a:prstGeom>
          <a:noFill/>
          <a:ln/>
        </p:spPr>
        <p:txBody>
          <a:bodyPr wrap="square" lIns="0" tIns="0" rIns="0" bIns="0" rtlCol="0" anchor="ctr"/>
          <a:lstStyle/>
          <a:p>
            <a:pPr marL="0" indent="0">
              <a:buNone/>
            </a:pPr>
            <a:r>
              <a:rPr lang="en-US" sz="1100" b="1" kern="0" spc="150" dirty="0">
                <a:solidFill>
                  <a:srgbClr val="6B6F76"/>
                </a:solidFill>
                <a:latin typeface="Calibri" pitchFamily="34" charset="0"/>
                <a:ea typeface="Calibri" pitchFamily="34" charset="-122"/>
                <a:cs typeface="Calibri" pitchFamily="34" charset="-120"/>
              </a:rPr>
              <a:t> K E Y   V I S U A L S   —   T H E   D A S H B O A R D</a:t>
            </a:r>
            <a:endParaRPr lang="en-US" sz="1100" dirty="0"/>
          </a:p>
        </p:txBody>
      </p:sp>
      <p:sp>
        <p:nvSpPr>
          <p:cNvPr id="6" name="Text 3"/>
          <p:cNvSpPr txBox="1"/>
          <p:nvPr/>
        </p:nvSpPr>
        <p:spPr>
          <a:xfrm>
            <a:off x="162560" y="457200"/>
            <a:ext cx="5394960" cy="274320"/>
          </a:xfrm>
          <a:prstGeom prst="rect">
            <a:avLst/>
          </a:prstGeom>
          <a:noFill/>
          <a:ln/>
        </p:spPr>
        <p:txBody>
          <a:bodyPr wrap="square" lIns="0" tIns="0" rIns="0" bIns="0" rtlCol="0" anchor="ctr"/>
          <a:lstStyle/>
          <a:p>
            <a:pPr marL="0" indent="0">
              <a:buNone/>
            </a:pPr>
            <a:r>
              <a:rPr lang="en-US" sz="1050" b="1" kern="0" spc="50" dirty="0">
                <a:solidFill>
                  <a:srgbClr val="6B6F76"/>
                </a:solidFill>
                <a:latin typeface="Calibri" pitchFamily="34" charset="0"/>
                <a:ea typeface="Calibri" pitchFamily="34" charset="-122"/>
                <a:cs typeface="Calibri" pitchFamily="34" charset="-120"/>
              </a:rPr>
              <a:t>EXECUTIVE OVERVIEW</a:t>
            </a:r>
            <a:endParaRPr lang="en-US" sz="1050" dirty="0"/>
          </a:p>
        </p:txBody>
      </p:sp>
      <p:sp>
        <p:nvSpPr>
          <p:cNvPr id="17" name="Text 4">
            <a:extLst>
              <a:ext uri="{FF2B5EF4-FFF2-40B4-BE49-F238E27FC236}">
                <a16:creationId xmlns:a16="http://schemas.microsoft.com/office/drawing/2014/main" id="{B6E196C7-4FAC-09E3-10B4-3022F41211D5}"/>
              </a:ext>
            </a:extLst>
          </p:cNvPr>
          <p:cNvSpPr txBox="1"/>
          <p:nvPr/>
        </p:nvSpPr>
        <p:spPr>
          <a:xfrm>
            <a:off x="6231798" y="457200"/>
            <a:ext cx="5394960" cy="274320"/>
          </a:xfrm>
          <a:prstGeom prst="rect">
            <a:avLst/>
          </a:prstGeom>
          <a:noFill/>
          <a:ln/>
        </p:spPr>
        <p:txBody>
          <a:bodyPr wrap="square" lIns="0" tIns="0" rIns="0" bIns="0" rtlCol="0" anchor="ctr"/>
          <a:lstStyle/>
          <a:p>
            <a:pPr marL="0" indent="0">
              <a:buNone/>
            </a:pPr>
            <a:r>
              <a:rPr lang="en-US" sz="1050" b="1" kern="0" spc="50" dirty="0">
                <a:solidFill>
                  <a:srgbClr val="6B6F76"/>
                </a:solidFill>
                <a:latin typeface="Calibri" pitchFamily="34" charset="0"/>
                <a:ea typeface="Calibri" pitchFamily="34" charset="-122"/>
                <a:cs typeface="Calibri" pitchFamily="34" charset="-120"/>
              </a:rPr>
              <a:t>ATTRITION ANALYSIS</a:t>
            </a:r>
            <a:endParaRPr lang="en-US" sz="1050" dirty="0"/>
          </a:p>
        </p:txBody>
      </p:sp>
      <p:pic>
        <p:nvPicPr>
          <p:cNvPr id="19" name="Picture 18">
            <a:extLst>
              <a:ext uri="{FF2B5EF4-FFF2-40B4-BE49-F238E27FC236}">
                <a16:creationId xmlns:a16="http://schemas.microsoft.com/office/drawing/2014/main" id="{CAD8D75B-07B7-6D85-A979-841F532A274E}"/>
              </a:ext>
            </a:extLst>
          </p:cNvPr>
          <p:cNvPicPr>
            <a:picLocks noChangeAspect="1"/>
          </p:cNvPicPr>
          <p:nvPr/>
        </p:nvPicPr>
        <p:blipFill>
          <a:blip r:embed="rId3"/>
          <a:stretch>
            <a:fillRect/>
          </a:stretch>
        </p:blipFill>
        <p:spPr>
          <a:xfrm>
            <a:off x="162561" y="804672"/>
            <a:ext cx="5669280" cy="5669281"/>
          </a:xfrm>
          <a:prstGeom prst="rect">
            <a:avLst/>
          </a:prstGeom>
        </p:spPr>
      </p:pic>
      <p:pic>
        <p:nvPicPr>
          <p:cNvPr id="21" name="Picture 20">
            <a:extLst>
              <a:ext uri="{FF2B5EF4-FFF2-40B4-BE49-F238E27FC236}">
                <a16:creationId xmlns:a16="http://schemas.microsoft.com/office/drawing/2014/main" id="{6618FD7B-15C9-3FA1-5C63-32265EFED951}"/>
              </a:ext>
            </a:extLst>
          </p:cNvPr>
          <p:cNvPicPr>
            <a:picLocks noChangeAspect="1"/>
          </p:cNvPicPr>
          <p:nvPr/>
        </p:nvPicPr>
        <p:blipFill>
          <a:blip r:embed="rId4"/>
          <a:stretch>
            <a:fillRect/>
          </a:stretch>
        </p:blipFill>
        <p:spPr>
          <a:xfrm>
            <a:off x="6231798" y="804672"/>
            <a:ext cx="5797641" cy="5596127"/>
          </a:xfrm>
          <a:prstGeom prst="rect">
            <a:avLst/>
          </a:prstGeom>
        </p:spPr>
      </p:pic>
      <p:sp>
        <p:nvSpPr>
          <p:cNvPr id="4" name="Text 19">
            <a:extLst>
              <a:ext uri="{FF2B5EF4-FFF2-40B4-BE49-F238E27FC236}">
                <a16:creationId xmlns:a16="http://schemas.microsoft.com/office/drawing/2014/main" id="{73D95ADA-2374-4B65-6C1C-6DB16575A87B}"/>
              </a:ext>
            </a:extLst>
          </p:cNvPr>
          <p:cNvSpPr txBox="1"/>
          <p:nvPr/>
        </p:nvSpPr>
        <p:spPr>
          <a:xfrm>
            <a:off x="457200" y="6492240"/>
            <a:ext cx="64008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GEOFLEX WORKFORCE SOLUTIONS  |  HR ANALYTICS PROJECT</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a:extLst>
            <a:ext uri="{FF2B5EF4-FFF2-40B4-BE49-F238E27FC236}">
              <a16:creationId xmlns:a16="http://schemas.microsoft.com/office/drawing/2014/main" id="{4A5DA7C2-4AAC-D9A9-1532-0EA4CAE18C0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17B86F7-697A-A43E-1EEA-0BFB1582CA04}"/>
              </a:ext>
            </a:extLst>
          </p:cNvPr>
          <p:cNvSpPr txBox="1"/>
          <p:nvPr/>
        </p:nvSpPr>
        <p:spPr>
          <a:xfrm>
            <a:off x="487680" y="182880"/>
            <a:ext cx="9144000" cy="274320"/>
          </a:xfrm>
          <a:prstGeom prst="rect">
            <a:avLst/>
          </a:prstGeom>
          <a:noFill/>
          <a:ln/>
        </p:spPr>
        <p:txBody>
          <a:bodyPr wrap="square" lIns="0" tIns="0" rIns="0" bIns="0" rtlCol="0" anchor="ctr"/>
          <a:lstStyle/>
          <a:p>
            <a:pPr marL="0" indent="0">
              <a:buNone/>
            </a:pPr>
            <a:r>
              <a:rPr lang="en-US" sz="1100" b="1" kern="0" spc="150" dirty="0">
                <a:solidFill>
                  <a:srgbClr val="6B6F76"/>
                </a:solidFill>
                <a:latin typeface="Calibri" pitchFamily="34" charset="0"/>
                <a:ea typeface="Calibri" pitchFamily="34" charset="-122"/>
                <a:cs typeface="Calibri" pitchFamily="34" charset="-120"/>
              </a:rPr>
              <a:t> K E Y   V I S U A L S   —   T H E   D A S H B O A R D</a:t>
            </a:r>
            <a:endParaRPr lang="en-US" sz="1100" dirty="0"/>
          </a:p>
        </p:txBody>
      </p:sp>
      <p:sp>
        <p:nvSpPr>
          <p:cNvPr id="10" name="Text 5">
            <a:extLst>
              <a:ext uri="{FF2B5EF4-FFF2-40B4-BE49-F238E27FC236}">
                <a16:creationId xmlns:a16="http://schemas.microsoft.com/office/drawing/2014/main" id="{6CBA6526-02B8-39E6-B220-AFE6FB520F1F}"/>
              </a:ext>
            </a:extLst>
          </p:cNvPr>
          <p:cNvSpPr txBox="1"/>
          <p:nvPr/>
        </p:nvSpPr>
        <p:spPr>
          <a:xfrm>
            <a:off x="289560" y="655320"/>
            <a:ext cx="5394960" cy="274320"/>
          </a:xfrm>
          <a:prstGeom prst="rect">
            <a:avLst/>
          </a:prstGeom>
          <a:noFill/>
          <a:ln/>
        </p:spPr>
        <p:txBody>
          <a:bodyPr wrap="square" lIns="0" tIns="0" rIns="0" bIns="0" rtlCol="0" anchor="ctr"/>
          <a:lstStyle/>
          <a:p>
            <a:pPr marL="0" indent="0">
              <a:buNone/>
            </a:pPr>
            <a:r>
              <a:rPr lang="en-US" sz="1050" b="1" kern="0" spc="50" dirty="0">
                <a:solidFill>
                  <a:srgbClr val="6B6F76"/>
                </a:solidFill>
                <a:latin typeface="Calibri" pitchFamily="34" charset="0"/>
                <a:ea typeface="Calibri" pitchFamily="34" charset="-122"/>
                <a:cs typeface="Calibri" pitchFamily="34" charset="-120"/>
              </a:rPr>
              <a:t>TALENT ACQUISITION</a:t>
            </a:r>
            <a:endParaRPr lang="en-US" sz="1050" dirty="0"/>
          </a:p>
        </p:txBody>
      </p:sp>
      <p:sp>
        <p:nvSpPr>
          <p:cNvPr id="12" name="Text 6">
            <a:extLst>
              <a:ext uri="{FF2B5EF4-FFF2-40B4-BE49-F238E27FC236}">
                <a16:creationId xmlns:a16="http://schemas.microsoft.com/office/drawing/2014/main" id="{4950DAB0-B3EB-BE88-2ACC-5EE49B313DEC}"/>
              </a:ext>
            </a:extLst>
          </p:cNvPr>
          <p:cNvSpPr txBox="1"/>
          <p:nvPr/>
        </p:nvSpPr>
        <p:spPr>
          <a:xfrm>
            <a:off x="6336792" y="655320"/>
            <a:ext cx="5394960" cy="274320"/>
          </a:xfrm>
          <a:prstGeom prst="rect">
            <a:avLst/>
          </a:prstGeom>
          <a:noFill/>
          <a:ln/>
        </p:spPr>
        <p:txBody>
          <a:bodyPr wrap="square" lIns="0" tIns="0" rIns="0" bIns="0" rtlCol="0" anchor="ctr"/>
          <a:lstStyle/>
          <a:p>
            <a:pPr marL="0" indent="0">
              <a:buNone/>
            </a:pPr>
            <a:r>
              <a:rPr lang="en-US" sz="1050" b="1" kern="0" spc="50" dirty="0">
                <a:solidFill>
                  <a:srgbClr val="6B6F76"/>
                </a:solidFill>
                <a:latin typeface="Calibri" pitchFamily="34" charset="0"/>
                <a:ea typeface="Calibri" pitchFamily="34" charset="-122"/>
                <a:cs typeface="Calibri" pitchFamily="34" charset="-120"/>
              </a:rPr>
              <a:t>BRANCH COMPARISON</a:t>
            </a:r>
            <a:endParaRPr lang="en-US" sz="1050" dirty="0"/>
          </a:p>
        </p:txBody>
      </p:sp>
      <p:pic>
        <p:nvPicPr>
          <p:cNvPr id="4" name="Picture 3">
            <a:extLst>
              <a:ext uri="{FF2B5EF4-FFF2-40B4-BE49-F238E27FC236}">
                <a16:creationId xmlns:a16="http://schemas.microsoft.com/office/drawing/2014/main" id="{53790B13-7F7B-5AC1-130C-56E03A76925B}"/>
              </a:ext>
            </a:extLst>
          </p:cNvPr>
          <p:cNvPicPr>
            <a:picLocks noChangeAspect="1"/>
          </p:cNvPicPr>
          <p:nvPr/>
        </p:nvPicPr>
        <p:blipFill>
          <a:blip r:embed="rId3"/>
          <a:stretch>
            <a:fillRect/>
          </a:stretch>
        </p:blipFill>
        <p:spPr>
          <a:xfrm>
            <a:off x="122792" y="1005840"/>
            <a:ext cx="5973208" cy="5468112"/>
          </a:xfrm>
          <a:prstGeom prst="rect">
            <a:avLst/>
          </a:prstGeom>
        </p:spPr>
      </p:pic>
      <p:pic>
        <p:nvPicPr>
          <p:cNvPr id="16" name="Picture 15">
            <a:extLst>
              <a:ext uri="{FF2B5EF4-FFF2-40B4-BE49-F238E27FC236}">
                <a16:creationId xmlns:a16="http://schemas.microsoft.com/office/drawing/2014/main" id="{0B7E40A2-A2C4-8610-AF2A-6696BF0BB527}"/>
              </a:ext>
            </a:extLst>
          </p:cNvPr>
          <p:cNvPicPr>
            <a:picLocks noChangeAspect="1"/>
          </p:cNvPicPr>
          <p:nvPr/>
        </p:nvPicPr>
        <p:blipFill>
          <a:blip r:embed="rId4"/>
          <a:stretch>
            <a:fillRect/>
          </a:stretch>
        </p:blipFill>
        <p:spPr>
          <a:xfrm>
            <a:off x="6228080" y="1005840"/>
            <a:ext cx="5826760" cy="5468112"/>
          </a:xfrm>
          <a:prstGeom prst="rect">
            <a:avLst/>
          </a:prstGeom>
        </p:spPr>
      </p:pic>
      <p:sp>
        <p:nvSpPr>
          <p:cNvPr id="5" name="Text 19">
            <a:extLst>
              <a:ext uri="{FF2B5EF4-FFF2-40B4-BE49-F238E27FC236}">
                <a16:creationId xmlns:a16="http://schemas.microsoft.com/office/drawing/2014/main" id="{678C9643-34E4-F0CC-31A4-40B11D4B3A10}"/>
              </a:ext>
            </a:extLst>
          </p:cNvPr>
          <p:cNvSpPr txBox="1"/>
          <p:nvPr/>
        </p:nvSpPr>
        <p:spPr>
          <a:xfrm>
            <a:off x="457200" y="6492240"/>
            <a:ext cx="64008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GEOFLEX WORKFORCE SOLUTIONS  |  HR ANALYTICS PROJECT</a:t>
            </a:r>
            <a:endParaRPr lang="en-US" sz="900" dirty="0"/>
          </a:p>
        </p:txBody>
      </p:sp>
    </p:spTree>
    <p:extLst>
      <p:ext uri="{BB962C8B-B14F-4D97-AF65-F5344CB8AC3E}">
        <p14:creationId xmlns:p14="http://schemas.microsoft.com/office/powerpoint/2010/main" val="41716606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AFAF8"/>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9144000" cy="274320"/>
          </a:xfrm>
          <a:prstGeom prst="rect">
            <a:avLst/>
          </a:prstGeom>
          <a:noFill/>
          <a:ln/>
        </p:spPr>
        <p:txBody>
          <a:bodyPr wrap="square" lIns="0" tIns="0" rIns="0" bIns="0" rtlCol="0" anchor="ctr"/>
          <a:lstStyle/>
          <a:p>
            <a:pPr marL="0" indent="0">
              <a:buNone/>
            </a:pPr>
            <a:r>
              <a:rPr lang="en-US" sz="1100" b="1" kern="0" spc="150" dirty="0">
                <a:solidFill>
                  <a:srgbClr val="6B6F76"/>
                </a:solidFill>
                <a:latin typeface="Calibri" pitchFamily="34" charset="0"/>
                <a:ea typeface="Calibri" pitchFamily="34" charset="-122"/>
                <a:cs typeface="Calibri" pitchFamily="34" charset="-120"/>
              </a:rPr>
              <a:t>  R E C O M M E N D A T I O N S</a:t>
            </a:r>
            <a:endParaRPr lang="en-US" sz="1100" dirty="0"/>
          </a:p>
        </p:txBody>
      </p:sp>
      <p:sp>
        <p:nvSpPr>
          <p:cNvPr id="3" name="Text 1"/>
          <p:cNvSpPr txBox="1"/>
          <p:nvPr/>
        </p:nvSpPr>
        <p:spPr>
          <a:xfrm>
            <a:off x="640080" y="749808"/>
            <a:ext cx="7315200" cy="822960"/>
          </a:xfrm>
          <a:prstGeom prst="rect">
            <a:avLst/>
          </a:prstGeom>
          <a:noFill/>
          <a:ln/>
        </p:spPr>
        <p:txBody>
          <a:bodyPr wrap="square" lIns="0" tIns="0" rIns="0" bIns="0" rtlCol="0" anchor="ctr"/>
          <a:lstStyle/>
          <a:p>
            <a:pPr marL="0" indent="0">
              <a:lnSpc>
                <a:spcPct val="103000"/>
              </a:lnSpc>
              <a:buNone/>
            </a:pPr>
            <a:r>
              <a:rPr lang="en-US" sz="3000" b="1" dirty="0">
                <a:solidFill>
                  <a:srgbClr val="14161A"/>
                </a:solidFill>
                <a:latin typeface="Cambria" pitchFamily="34" charset="0"/>
                <a:ea typeface="Cambria" pitchFamily="34" charset="-122"/>
                <a:cs typeface="Cambria" pitchFamily="34" charset="-120"/>
              </a:rPr>
              <a:t>Five Practical Next Steps</a:t>
            </a:r>
            <a:endParaRPr lang="en-US" sz="3000" dirty="0"/>
          </a:p>
        </p:txBody>
      </p:sp>
      <p:sp>
        <p:nvSpPr>
          <p:cNvPr id="4" name="Shape 2"/>
          <p:cNvSpPr/>
          <p:nvPr/>
        </p:nvSpPr>
        <p:spPr>
          <a:xfrm>
            <a:off x="640080" y="1463040"/>
            <a:ext cx="10972800" cy="0"/>
          </a:xfrm>
          <a:prstGeom prst="line">
            <a:avLst/>
          </a:prstGeom>
          <a:noFill/>
          <a:ln w="9525">
            <a:solidFill>
              <a:srgbClr val="DADCE0"/>
            </a:solidFill>
            <a:prstDash val="solid"/>
          </a:ln>
        </p:spPr>
        <p:txBody>
          <a:bodyPr/>
          <a:lstStyle/>
          <a:p>
            <a:endParaRPr lang="en-US"/>
          </a:p>
        </p:txBody>
      </p:sp>
      <p:sp>
        <p:nvSpPr>
          <p:cNvPr id="5" name="Text 3"/>
          <p:cNvSpPr txBox="1"/>
          <p:nvPr/>
        </p:nvSpPr>
        <p:spPr>
          <a:xfrm>
            <a:off x="640080" y="1828800"/>
            <a:ext cx="640080" cy="502920"/>
          </a:xfrm>
          <a:prstGeom prst="rect">
            <a:avLst/>
          </a:prstGeom>
          <a:noFill/>
          <a:ln/>
        </p:spPr>
        <p:txBody>
          <a:bodyPr wrap="square" lIns="0" tIns="0" rIns="0" bIns="0" rtlCol="0" anchor="ctr"/>
          <a:lstStyle/>
          <a:p>
            <a:pPr marL="0" indent="0">
              <a:buNone/>
            </a:pPr>
            <a:r>
              <a:rPr lang="en-US" sz="2200" b="1" dirty="0">
                <a:solidFill>
                  <a:srgbClr val="D2461E"/>
                </a:solidFill>
                <a:latin typeface="Cambria" pitchFamily="34" charset="0"/>
                <a:ea typeface="Cambria" pitchFamily="34" charset="-122"/>
                <a:cs typeface="Cambria" pitchFamily="34" charset="-120"/>
              </a:rPr>
              <a:t>01</a:t>
            </a:r>
            <a:endParaRPr lang="en-US" sz="2200" dirty="0"/>
          </a:p>
        </p:txBody>
      </p:sp>
      <p:sp>
        <p:nvSpPr>
          <p:cNvPr id="6" name="Text 4"/>
          <p:cNvSpPr txBox="1"/>
          <p:nvPr/>
        </p:nvSpPr>
        <p:spPr>
          <a:xfrm>
            <a:off x="1417320" y="1856232"/>
            <a:ext cx="9966960" cy="777240"/>
          </a:xfrm>
          <a:prstGeom prst="rect">
            <a:avLst/>
          </a:prstGeom>
          <a:noFill/>
          <a:ln/>
        </p:spPr>
        <p:txBody>
          <a:bodyPr wrap="square" lIns="0" tIns="0" rIns="0" bIns="0" rtlCol="0" anchor="ctr"/>
          <a:lstStyle/>
          <a:p>
            <a:r>
              <a:rPr lang="en-US" sz="1400" dirty="0"/>
              <a:t>Before introducing a company-wide retention programme, leadership should first understand why employees are leaving in Customer Service, Administration, Busia, and Lokoja, where retention appears to be a greater concern.</a:t>
            </a:r>
          </a:p>
        </p:txBody>
      </p:sp>
      <p:sp>
        <p:nvSpPr>
          <p:cNvPr id="7" name="Shape 5"/>
          <p:cNvSpPr/>
          <p:nvPr/>
        </p:nvSpPr>
        <p:spPr>
          <a:xfrm>
            <a:off x="1417320" y="2587752"/>
            <a:ext cx="9966960" cy="0"/>
          </a:xfrm>
          <a:prstGeom prst="line">
            <a:avLst/>
          </a:prstGeom>
          <a:noFill/>
          <a:ln w="6350">
            <a:solidFill>
              <a:srgbClr val="DADCE0"/>
            </a:solidFill>
            <a:prstDash val="solid"/>
          </a:ln>
        </p:spPr>
        <p:txBody>
          <a:bodyPr/>
          <a:lstStyle/>
          <a:p>
            <a:endParaRPr lang="en-US"/>
          </a:p>
        </p:txBody>
      </p:sp>
      <p:sp>
        <p:nvSpPr>
          <p:cNvPr id="8" name="Text 6"/>
          <p:cNvSpPr txBox="1"/>
          <p:nvPr/>
        </p:nvSpPr>
        <p:spPr>
          <a:xfrm>
            <a:off x="640080" y="2697480"/>
            <a:ext cx="640080" cy="502920"/>
          </a:xfrm>
          <a:prstGeom prst="rect">
            <a:avLst/>
          </a:prstGeom>
          <a:noFill/>
          <a:ln/>
        </p:spPr>
        <p:txBody>
          <a:bodyPr wrap="square" lIns="0" tIns="0" rIns="0" bIns="0" rtlCol="0" anchor="ctr"/>
          <a:lstStyle/>
          <a:p>
            <a:pPr marL="0" indent="0">
              <a:buNone/>
            </a:pPr>
            <a:r>
              <a:rPr lang="en-US" sz="2200" b="1" dirty="0">
                <a:solidFill>
                  <a:srgbClr val="D2461E"/>
                </a:solidFill>
                <a:latin typeface="Cambria" pitchFamily="34" charset="0"/>
                <a:ea typeface="Cambria" pitchFamily="34" charset="-122"/>
                <a:cs typeface="Cambria" pitchFamily="34" charset="-120"/>
              </a:rPr>
              <a:t>02</a:t>
            </a:r>
            <a:endParaRPr lang="en-US" sz="2200" dirty="0"/>
          </a:p>
        </p:txBody>
      </p:sp>
      <p:sp>
        <p:nvSpPr>
          <p:cNvPr id="9" name="Text 7"/>
          <p:cNvSpPr txBox="1"/>
          <p:nvPr/>
        </p:nvSpPr>
        <p:spPr>
          <a:xfrm>
            <a:off x="1417320" y="2724912"/>
            <a:ext cx="9966960" cy="777240"/>
          </a:xfrm>
          <a:prstGeom prst="rect">
            <a:avLst/>
          </a:prstGeom>
          <a:noFill/>
          <a:ln/>
        </p:spPr>
        <p:txBody>
          <a:bodyPr wrap="square" lIns="0" tIns="0" rIns="0" bIns="0" rtlCol="0" anchor="ctr"/>
          <a:lstStyle/>
          <a:p>
            <a:r>
              <a:rPr lang="en-US" sz="1400" dirty="0"/>
              <a:t>Compare the cost of each recruitment source with the number of hires it generates to identify which sources provide the best results and deserve more attention.</a:t>
            </a:r>
          </a:p>
        </p:txBody>
      </p:sp>
      <p:sp>
        <p:nvSpPr>
          <p:cNvPr id="10" name="Shape 8"/>
          <p:cNvSpPr/>
          <p:nvPr/>
        </p:nvSpPr>
        <p:spPr>
          <a:xfrm>
            <a:off x="1417320" y="3456432"/>
            <a:ext cx="9966960" cy="0"/>
          </a:xfrm>
          <a:prstGeom prst="line">
            <a:avLst/>
          </a:prstGeom>
          <a:noFill/>
          <a:ln w="6350">
            <a:solidFill>
              <a:srgbClr val="DADCE0"/>
            </a:solidFill>
            <a:prstDash val="solid"/>
          </a:ln>
        </p:spPr>
        <p:txBody>
          <a:bodyPr/>
          <a:lstStyle/>
          <a:p>
            <a:endParaRPr lang="en-US"/>
          </a:p>
        </p:txBody>
      </p:sp>
      <p:sp>
        <p:nvSpPr>
          <p:cNvPr id="11" name="Text 9"/>
          <p:cNvSpPr txBox="1"/>
          <p:nvPr/>
        </p:nvSpPr>
        <p:spPr>
          <a:xfrm>
            <a:off x="640080" y="3566160"/>
            <a:ext cx="640080" cy="502920"/>
          </a:xfrm>
          <a:prstGeom prst="rect">
            <a:avLst/>
          </a:prstGeom>
          <a:noFill/>
          <a:ln/>
        </p:spPr>
        <p:txBody>
          <a:bodyPr wrap="square" lIns="0" tIns="0" rIns="0" bIns="0" rtlCol="0" anchor="ctr"/>
          <a:lstStyle/>
          <a:p>
            <a:pPr marL="0" indent="0">
              <a:buNone/>
            </a:pPr>
            <a:r>
              <a:rPr lang="en-US" sz="2200" b="1" dirty="0">
                <a:solidFill>
                  <a:srgbClr val="D2461E"/>
                </a:solidFill>
                <a:latin typeface="Cambria" pitchFamily="34" charset="0"/>
                <a:ea typeface="Cambria" pitchFamily="34" charset="-122"/>
                <a:cs typeface="Cambria" pitchFamily="34" charset="-120"/>
              </a:rPr>
              <a:t>03</a:t>
            </a:r>
            <a:endParaRPr lang="en-US" sz="2200" dirty="0"/>
          </a:p>
        </p:txBody>
      </p:sp>
      <p:sp>
        <p:nvSpPr>
          <p:cNvPr id="12" name="Text 10"/>
          <p:cNvSpPr txBox="1"/>
          <p:nvPr/>
        </p:nvSpPr>
        <p:spPr>
          <a:xfrm>
            <a:off x="1417320" y="3593592"/>
            <a:ext cx="9966960" cy="777240"/>
          </a:xfrm>
          <a:prstGeom prst="rect">
            <a:avLst/>
          </a:prstGeom>
          <a:noFill/>
          <a:ln/>
        </p:spPr>
        <p:txBody>
          <a:bodyPr wrap="square" lIns="0" tIns="0" rIns="0" bIns="0" rtlCol="0" anchor="ctr"/>
          <a:lstStyle/>
          <a:p>
            <a:r>
              <a:rPr lang="en-US" sz="1400" dirty="0"/>
              <a:t>Investigate why employees are leaving within their first year and review whether the onboarding process and early employee support are addressing their needs effectively.</a:t>
            </a:r>
          </a:p>
        </p:txBody>
      </p:sp>
      <p:sp>
        <p:nvSpPr>
          <p:cNvPr id="13" name="Shape 11"/>
          <p:cNvSpPr/>
          <p:nvPr/>
        </p:nvSpPr>
        <p:spPr>
          <a:xfrm>
            <a:off x="1417320" y="4325112"/>
            <a:ext cx="9966960" cy="0"/>
          </a:xfrm>
          <a:prstGeom prst="line">
            <a:avLst/>
          </a:prstGeom>
          <a:noFill/>
          <a:ln w="6350">
            <a:solidFill>
              <a:srgbClr val="DADCE0"/>
            </a:solidFill>
            <a:prstDash val="solid"/>
          </a:ln>
        </p:spPr>
        <p:txBody>
          <a:bodyPr/>
          <a:lstStyle/>
          <a:p>
            <a:endParaRPr lang="en-US"/>
          </a:p>
        </p:txBody>
      </p:sp>
      <p:sp>
        <p:nvSpPr>
          <p:cNvPr id="14" name="Text 12"/>
          <p:cNvSpPr txBox="1"/>
          <p:nvPr/>
        </p:nvSpPr>
        <p:spPr>
          <a:xfrm>
            <a:off x="640080" y="4434840"/>
            <a:ext cx="640080" cy="502920"/>
          </a:xfrm>
          <a:prstGeom prst="rect">
            <a:avLst/>
          </a:prstGeom>
          <a:noFill/>
          <a:ln/>
        </p:spPr>
        <p:txBody>
          <a:bodyPr wrap="square" lIns="0" tIns="0" rIns="0" bIns="0" rtlCol="0" anchor="ctr"/>
          <a:lstStyle/>
          <a:p>
            <a:pPr marL="0" indent="0">
              <a:buNone/>
            </a:pPr>
            <a:r>
              <a:rPr lang="en-US" sz="2200" b="1" dirty="0">
                <a:solidFill>
                  <a:srgbClr val="D2461E"/>
                </a:solidFill>
                <a:latin typeface="Cambria" pitchFamily="34" charset="0"/>
                <a:ea typeface="Cambria" pitchFamily="34" charset="-122"/>
                <a:cs typeface="Cambria" pitchFamily="34" charset="-120"/>
              </a:rPr>
              <a:t>04</a:t>
            </a:r>
            <a:endParaRPr lang="en-US" sz="2200" dirty="0"/>
          </a:p>
        </p:txBody>
      </p:sp>
      <p:sp>
        <p:nvSpPr>
          <p:cNvPr id="15" name="Text 13"/>
          <p:cNvSpPr txBox="1"/>
          <p:nvPr/>
        </p:nvSpPr>
        <p:spPr>
          <a:xfrm>
            <a:off x="1417320" y="4462272"/>
            <a:ext cx="9966960" cy="777240"/>
          </a:xfrm>
          <a:prstGeom prst="rect">
            <a:avLst/>
          </a:prstGeom>
          <a:noFill/>
          <a:ln/>
        </p:spPr>
        <p:txBody>
          <a:bodyPr wrap="square" lIns="0" tIns="0" rIns="0" bIns="0" rtlCol="0" anchor="ctr"/>
          <a:lstStyle/>
          <a:p>
            <a:r>
              <a:rPr lang="en-US" sz="1400" dirty="0"/>
              <a:t>Correct negative tenure records and verify that each employee’s exit date is consistent with their hire date to ensure tenure is reported accurately.</a:t>
            </a:r>
          </a:p>
        </p:txBody>
      </p:sp>
      <p:sp>
        <p:nvSpPr>
          <p:cNvPr id="16" name="Shape 14"/>
          <p:cNvSpPr/>
          <p:nvPr/>
        </p:nvSpPr>
        <p:spPr>
          <a:xfrm>
            <a:off x="1417320" y="5193792"/>
            <a:ext cx="9966960" cy="0"/>
          </a:xfrm>
          <a:prstGeom prst="line">
            <a:avLst/>
          </a:prstGeom>
          <a:noFill/>
          <a:ln w="6350">
            <a:solidFill>
              <a:srgbClr val="DADCE0"/>
            </a:solidFill>
            <a:prstDash val="solid"/>
          </a:ln>
        </p:spPr>
        <p:txBody>
          <a:bodyPr/>
          <a:lstStyle/>
          <a:p>
            <a:endParaRPr lang="en-US"/>
          </a:p>
        </p:txBody>
      </p:sp>
      <p:sp>
        <p:nvSpPr>
          <p:cNvPr id="21" name="Text 19">
            <a:extLst>
              <a:ext uri="{FF2B5EF4-FFF2-40B4-BE49-F238E27FC236}">
                <a16:creationId xmlns:a16="http://schemas.microsoft.com/office/drawing/2014/main" id="{7092FCBE-6DEE-D452-ED14-B59EE3716A59}"/>
              </a:ext>
            </a:extLst>
          </p:cNvPr>
          <p:cNvSpPr txBox="1"/>
          <p:nvPr/>
        </p:nvSpPr>
        <p:spPr>
          <a:xfrm>
            <a:off x="457200" y="6492240"/>
            <a:ext cx="64008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GEOFLEX WORKFORCE SOLUTIONS  |  HR ANALYTICS PROJECT</a:t>
            </a:r>
            <a:endParaRPr lang="en-US" sz="900" dirty="0"/>
          </a:p>
        </p:txBody>
      </p:sp>
      <p:sp>
        <p:nvSpPr>
          <p:cNvPr id="22" name="Text 12">
            <a:extLst>
              <a:ext uri="{FF2B5EF4-FFF2-40B4-BE49-F238E27FC236}">
                <a16:creationId xmlns:a16="http://schemas.microsoft.com/office/drawing/2014/main" id="{7D9F79E2-BF9F-45FB-231A-34693DE47DFB}"/>
              </a:ext>
            </a:extLst>
          </p:cNvPr>
          <p:cNvSpPr txBox="1"/>
          <p:nvPr/>
        </p:nvSpPr>
        <p:spPr>
          <a:xfrm>
            <a:off x="640080" y="5321808"/>
            <a:ext cx="640080" cy="502920"/>
          </a:xfrm>
          <a:prstGeom prst="rect">
            <a:avLst/>
          </a:prstGeom>
          <a:noFill/>
          <a:ln/>
        </p:spPr>
        <p:txBody>
          <a:bodyPr wrap="square" lIns="0" tIns="0" rIns="0" bIns="0" rtlCol="0" anchor="ctr"/>
          <a:lstStyle/>
          <a:p>
            <a:pPr marL="0" indent="0">
              <a:buNone/>
            </a:pPr>
            <a:r>
              <a:rPr lang="en-US" sz="2200" b="1" dirty="0">
                <a:solidFill>
                  <a:srgbClr val="D2461E"/>
                </a:solidFill>
                <a:latin typeface="Cambria" pitchFamily="34" charset="0"/>
                <a:ea typeface="Cambria" pitchFamily="34" charset="-122"/>
                <a:cs typeface="Cambria" pitchFamily="34" charset="-120"/>
              </a:rPr>
              <a:t>05</a:t>
            </a:r>
            <a:endParaRPr lang="en-US" sz="2200" dirty="0"/>
          </a:p>
        </p:txBody>
      </p:sp>
      <p:sp>
        <p:nvSpPr>
          <p:cNvPr id="23" name="Text 13">
            <a:extLst>
              <a:ext uri="{FF2B5EF4-FFF2-40B4-BE49-F238E27FC236}">
                <a16:creationId xmlns:a16="http://schemas.microsoft.com/office/drawing/2014/main" id="{C35DE443-B6CB-C09D-9D04-59D017E8D21A}"/>
              </a:ext>
            </a:extLst>
          </p:cNvPr>
          <p:cNvSpPr txBox="1"/>
          <p:nvPr/>
        </p:nvSpPr>
        <p:spPr>
          <a:xfrm>
            <a:off x="1417320" y="5217160"/>
            <a:ext cx="9966960" cy="777240"/>
          </a:xfrm>
          <a:prstGeom prst="rect">
            <a:avLst/>
          </a:prstGeom>
          <a:noFill/>
          <a:ln/>
        </p:spPr>
        <p:txBody>
          <a:bodyPr wrap="square" lIns="0" tIns="0" rIns="0" bIns="0" rtlCol="0" anchor="ctr"/>
          <a:lstStyle/>
          <a:p>
            <a:r>
              <a:rPr lang="en-US" sz="1400" dirty="0"/>
              <a:t>Clean and reorganize the recruitment data so that each applicant’s progress from application to interview, offer, and hiring can be tracked correctly. This will help the business know where applicants are being lost and how effective its recruitment process is.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3">
    <p:bg>
      <p:bgPr>
        <a:solidFill>
          <a:srgbClr val="0F1115"/>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8B590A5-98C9-CE46-0953-FFFEACA3491A}"/>
              </a:ext>
            </a:extLst>
          </p:cNvPr>
          <p:cNvSpPr/>
          <p:nvPr/>
        </p:nvSpPr>
        <p:spPr>
          <a:xfrm>
            <a:off x="0" y="0"/>
            <a:ext cx="12192000" cy="68580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txBox="1"/>
          <p:nvPr/>
        </p:nvSpPr>
        <p:spPr>
          <a:xfrm>
            <a:off x="711200" y="1450596"/>
            <a:ext cx="9144000" cy="100584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3" name="Text 1"/>
          <p:cNvSpPr txBox="1"/>
          <p:nvPr/>
        </p:nvSpPr>
        <p:spPr>
          <a:xfrm>
            <a:off x="822960" y="2420876"/>
            <a:ext cx="7315200" cy="457200"/>
          </a:xfrm>
          <a:prstGeom prst="rect">
            <a:avLst/>
          </a:prstGeom>
          <a:noFill/>
          <a:ln/>
        </p:spPr>
        <p:txBody>
          <a:bodyPr wrap="square" lIns="0" tIns="0" rIns="0" bIns="0" rtlCol="0" anchor="ctr"/>
          <a:lstStyle/>
          <a:p>
            <a:pPr marL="0" indent="0">
              <a:buNone/>
            </a:pPr>
            <a:r>
              <a:rPr lang="en-US" sz="1500" i="1" dirty="0">
                <a:solidFill>
                  <a:srgbClr val="C9CCD1"/>
                </a:solidFill>
                <a:latin typeface="Calibri" pitchFamily="34" charset="0"/>
                <a:ea typeface="Calibri" pitchFamily="34" charset="-122"/>
                <a:cs typeface="Calibri" pitchFamily="34" charset="-120"/>
              </a:rPr>
              <a:t>Questions &amp; discussion welcome.</a:t>
            </a:r>
            <a:endParaRPr lang="en-US" sz="1500" dirty="0"/>
          </a:p>
        </p:txBody>
      </p:sp>
      <p:sp>
        <p:nvSpPr>
          <p:cNvPr id="4" name="Shape 2"/>
          <p:cNvSpPr/>
          <p:nvPr/>
        </p:nvSpPr>
        <p:spPr>
          <a:xfrm>
            <a:off x="822960" y="3058160"/>
            <a:ext cx="2377440" cy="0"/>
          </a:xfrm>
          <a:prstGeom prst="line">
            <a:avLst/>
          </a:prstGeom>
          <a:noFill/>
          <a:ln w="12700">
            <a:solidFill>
              <a:srgbClr val="3A3D45"/>
            </a:solidFill>
            <a:prstDash val="solid"/>
          </a:ln>
        </p:spPr>
        <p:txBody>
          <a:bodyPr/>
          <a:lstStyle/>
          <a:p>
            <a:endParaRPr lang="en-US"/>
          </a:p>
        </p:txBody>
      </p:sp>
      <p:sp>
        <p:nvSpPr>
          <p:cNvPr id="5" name="Text 3"/>
          <p:cNvSpPr txBox="1"/>
          <p:nvPr/>
        </p:nvSpPr>
        <p:spPr>
          <a:xfrm>
            <a:off x="822960" y="3148331"/>
            <a:ext cx="731520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Joecliff Ayibabrakemi Wilson</a:t>
            </a:r>
            <a:endParaRPr lang="en-US" sz="1500" dirty="0"/>
          </a:p>
        </p:txBody>
      </p:sp>
      <p:sp>
        <p:nvSpPr>
          <p:cNvPr id="6" name="Text 4"/>
          <p:cNvSpPr txBox="1"/>
          <p:nvPr/>
        </p:nvSpPr>
        <p:spPr>
          <a:xfrm>
            <a:off x="822960" y="3639061"/>
            <a:ext cx="7315200" cy="320040"/>
          </a:xfrm>
          <a:prstGeom prst="rect">
            <a:avLst/>
          </a:prstGeom>
          <a:noFill/>
          <a:ln/>
        </p:spPr>
        <p:txBody>
          <a:bodyPr wrap="square" lIns="0" tIns="0" rIns="0" bIns="0" rtlCol="0" anchor="ctr"/>
          <a:lstStyle/>
          <a:p>
            <a:pPr marL="0" indent="0">
              <a:buNone/>
            </a:pPr>
            <a:r>
              <a:rPr lang="en-US" sz="1150" dirty="0">
                <a:solidFill>
                  <a:srgbClr val="C9CCD1"/>
                </a:solidFill>
                <a:latin typeface="Calibri" pitchFamily="34" charset="0"/>
                <a:ea typeface="Calibri" pitchFamily="34" charset="-122"/>
                <a:cs typeface="Calibri" pitchFamily="34" charset="-120"/>
              </a:rPr>
              <a:t>HR Workforce &amp; Attrition Analysis (2019 -2025) — Geoflex Workforce Solutions</a:t>
            </a:r>
            <a:endParaRPr lang="en-US" sz="1150" dirty="0"/>
          </a:p>
        </p:txBody>
      </p:sp>
      <p:sp>
        <p:nvSpPr>
          <p:cNvPr id="7" name="Text 5"/>
          <p:cNvSpPr txBox="1"/>
          <p:nvPr/>
        </p:nvSpPr>
        <p:spPr>
          <a:xfrm>
            <a:off x="711200" y="5947919"/>
            <a:ext cx="8229600" cy="320040"/>
          </a:xfrm>
          <a:prstGeom prst="rect">
            <a:avLst/>
          </a:prstGeom>
          <a:noFill/>
          <a:ln/>
        </p:spPr>
        <p:txBody>
          <a:bodyPr wrap="square" lIns="0" tIns="0" rIns="0" bIns="0" rtlCol="0" anchor="ctr"/>
          <a:lstStyle/>
          <a:p>
            <a:pPr marL="0" indent="0">
              <a:buNone/>
            </a:pPr>
            <a:r>
              <a:rPr lang="en-US" sz="1050" dirty="0">
                <a:solidFill>
                  <a:srgbClr val="D2461E"/>
                </a:solidFill>
                <a:latin typeface="Calibri" pitchFamily="34" charset="0"/>
                <a:ea typeface="Calibri" pitchFamily="34" charset="-122"/>
                <a:cs typeface="Calibri" pitchFamily="34" charset="-120"/>
              </a:rPr>
              <a:t>github.com/joecliffayibabrakemi-debug/HR-Workforce-Attrition-Analysis-Geoflex-Workforce-Solutions</a:t>
            </a:r>
            <a:endParaRPr lang="en-US" sz="1050" dirty="0"/>
          </a:p>
        </p:txBody>
      </p:sp>
      <p:sp>
        <p:nvSpPr>
          <p:cNvPr id="10" name="Text 3">
            <a:extLst>
              <a:ext uri="{FF2B5EF4-FFF2-40B4-BE49-F238E27FC236}">
                <a16:creationId xmlns:a16="http://schemas.microsoft.com/office/drawing/2014/main" id="{FA40A07B-446A-6F3E-8B7F-77E73B506723}"/>
              </a:ext>
            </a:extLst>
          </p:cNvPr>
          <p:cNvSpPr txBox="1"/>
          <p:nvPr/>
        </p:nvSpPr>
        <p:spPr>
          <a:xfrm>
            <a:off x="822960" y="4173601"/>
            <a:ext cx="7315200" cy="1005841"/>
          </a:xfrm>
          <a:prstGeom prst="rect">
            <a:avLst/>
          </a:prstGeom>
          <a:noFill/>
          <a:ln/>
        </p:spPr>
        <p:txBody>
          <a:bodyPr wrap="square" lIns="0" tIns="0" rIns="0" bIns="0" rtlCol="0" anchor="ctr"/>
          <a:lstStyle/>
          <a:p>
            <a:r>
              <a:rPr lang="en-US" sz="1600" b="1" dirty="0">
                <a:solidFill>
                  <a:schemeClr val="bg1"/>
                </a:solidFill>
              </a:rPr>
              <a:t>Special Acknowledgement</a:t>
            </a:r>
            <a:endParaRPr lang="en-US" sz="1600" dirty="0">
              <a:solidFill>
                <a:schemeClr val="bg1"/>
              </a:solidFill>
            </a:endParaRPr>
          </a:p>
          <a:p>
            <a:r>
              <a:rPr lang="en-US" sz="1600" dirty="0">
                <a:solidFill>
                  <a:schemeClr val="bg1">
                    <a:lumMod val="75000"/>
                  </a:schemeClr>
                </a:solidFill>
              </a:rPr>
              <a:t>A special thank you to my instructor, </a:t>
            </a:r>
            <a:r>
              <a:rPr lang="en-US" sz="1600" b="1" dirty="0">
                <a:solidFill>
                  <a:schemeClr val="bg1">
                    <a:lumMod val="75000"/>
                  </a:schemeClr>
                </a:solidFill>
              </a:rPr>
              <a:t>Mr. Felix R. R.</a:t>
            </a:r>
            <a:r>
              <a:rPr lang="en-US" sz="1600" dirty="0">
                <a:solidFill>
                  <a:schemeClr val="bg1">
                    <a:lumMod val="75000"/>
                  </a:schemeClr>
                </a:solidFill>
              </a:rPr>
              <a:t>, for his guidance and support throughout this project.</a:t>
            </a:r>
          </a:p>
        </p:txBody>
      </p:sp>
      <p:sp>
        <p:nvSpPr>
          <p:cNvPr id="11" name="Text 5">
            <a:extLst>
              <a:ext uri="{FF2B5EF4-FFF2-40B4-BE49-F238E27FC236}">
                <a16:creationId xmlns:a16="http://schemas.microsoft.com/office/drawing/2014/main" id="{804D7628-68C7-954C-5E61-2ED5CC37F719}"/>
              </a:ext>
            </a:extLst>
          </p:cNvPr>
          <p:cNvSpPr txBox="1"/>
          <p:nvPr/>
        </p:nvSpPr>
        <p:spPr>
          <a:xfrm>
            <a:off x="711200" y="6251194"/>
            <a:ext cx="8229600" cy="320040"/>
          </a:xfrm>
          <a:prstGeom prst="rect">
            <a:avLst/>
          </a:prstGeom>
          <a:noFill/>
          <a:ln/>
        </p:spPr>
        <p:txBody>
          <a:bodyPr wrap="square" lIns="0" tIns="0" rIns="0" bIns="0" rtlCol="0" anchor="ctr"/>
          <a:lstStyle/>
          <a:p>
            <a:pPr fontAlgn="base"/>
            <a:endParaRPr lang="en-US" sz="1100" b="1" dirty="0"/>
          </a:p>
          <a:p>
            <a:pPr fontAlgn="base"/>
            <a:r>
              <a:rPr lang="en-US" sz="1100" b="1" dirty="0">
                <a:hlinkClick r:id="rId3"/>
              </a:rPr>
              <a:t>linkedin.com/in/joecliff-wilson</a:t>
            </a:r>
            <a:endParaRPr lang="en-US" sz="1100" b="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263</TotalTime>
  <Words>940</Words>
  <Application>Microsoft Office PowerPoint</Application>
  <PresentationFormat>Widescreen</PresentationFormat>
  <Paragraphs>90</Paragraphs>
  <Slides>8</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Baskerville Old Face</vt:lpstr>
      <vt:lpstr>Calibri</vt:lpstr>
      <vt:lpstr>Cambria</vt:lpstr>
      <vt:lpstr>Cascadia Code SemiBold</vt:lpstr>
      <vt:lpstr>Cascadia Mono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Ayibabrakemi Joecliff</cp:lastModifiedBy>
  <cp:revision>4</cp:revision>
  <dcterms:created xsi:type="dcterms:W3CDTF">2026-09-14T19:01:38Z</dcterms:created>
  <dcterms:modified xsi:type="dcterms:W3CDTF">2026-09-15T08:52:06Z</dcterms:modified>
</cp:coreProperties>
</file>